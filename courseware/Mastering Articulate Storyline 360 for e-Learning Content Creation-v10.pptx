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effort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Story map</c:v>
                </c:pt>
                <c:pt idx="1">
                  <c:v>Screen design</c:v>
                </c:pt>
                <c:pt idx="2">
                  <c:v>Media</c:v>
                </c:pt>
                <c:pt idx="3">
                  <c:v>Interaction</c:v>
                </c:pt>
                <c:pt idx="4">
                  <c:v>Review + QA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</c:v>
                </c:pt>
                <c:pt idx="1">
                  <c:v>20</c:v>
                </c:pt>
                <c:pt idx="2">
                  <c:v>20</c:v>
                </c:pt>
                <c:pt idx="3">
                  <c:v>25</c:v>
                </c:pt>
                <c:pt idx="4">
                  <c:v>20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/>
        <c:majorTickMark val="out"/>
        <c:minorTickMark val="none"/>
        <c:tickLblPos val="nextTo"/>
        <c:crossAx val="222693996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1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share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Text + visuals</c:v>
                </c:pt>
                <c:pt idx="1">
                  <c:v>Narrated demo</c:v>
                </c:pt>
                <c:pt idx="2">
                  <c:v>Interactive scenario</c:v>
                </c:pt>
                <c:pt idx="3">
                  <c:v>Quiz + feedback</c:v>
                </c:pt>
                <c:pt idx="4">
                  <c:v>Reference support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20</c:v>
                </c:pt>
                <c:pt idx="2">
                  <c:v>25</c:v>
                </c:pt>
                <c:pt idx="3">
                  <c:v>15</c:v>
                </c:pt>
                <c:pt idx="4">
                  <c:v>15</c:v>
                </c:pt>
              </c:numCache>
            </c:numRef>
          </c:val>
        </c:ser>
        <c:dLbls>
          <c:dLblPos val="bestFit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Test cases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Linear reveal</c:v>
                </c:pt>
                <c:pt idx="1">
                  <c:v>Layered explore</c:v>
                </c:pt>
                <c:pt idx="2">
                  <c:v>Variable gate</c:v>
                </c:pt>
                <c:pt idx="3">
                  <c:v>Branching scenario</c:v>
                </c:pt>
                <c:pt idx="4">
                  <c:v>Quiz + resume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6</c:v>
                </c:pt>
                <c:pt idx="2">
                  <c:v>10</c:v>
                </c:pt>
                <c:pt idx="3">
                  <c:v>16</c:v>
                </c:pt>
                <c:pt idx="4">
                  <c:v>20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2226939960"/>
        <c:axId val="2180972856"/>
      </c:barChart>
      <c:catAx>
        <c:axId val="2226939960"/>
        <c:scaling>
          <c:orientation val="minMax"/>
        </c:scaling>
        <c:delete val="0"/>
        <c:axPos val="l"/>
        <c:majorTickMark val="out"/>
        <c:minorTickMark val="none"/>
        <c:tickLblPos val="nextTo"/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b"/>
        <c:majorGridlines/>
        <c:majorTickMark val="out"/>
        <c:minorTickMark val="none"/>
        <c:tickLblPos val="nextTo"/>
        <c:crossAx val="222693996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Interactivity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Review 360</c:v>
                </c:pt>
                <c:pt idx="1">
                  <c:v>Web</c:v>
                </c:pt>
                <c:pt idx="2">
                  <c:v>Video</c:v>
                </c:pt>
                <c:pt idx="3">
                  <c:v>LMS/LRS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5</c:v>
                </c:pt>
                <c:pt idx="2">
                  <c:v>1</c:v>
                </c:pt>
                <c:pt idx="3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Review 360</c:v>
                </c:pt>
                <c:pt idx="1">
                  <c:v>Web</c:v>
                </c:pt>
                <c:pt idx="2">
                  <c:v>Video</c:v>
                </c:pt>
                <c:pt idx="3">
                  <c:v>LMS/LRS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Review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Review 360</c:v>
                </c:pt>
                <c:pt idx="1">
                  <c:v>Web</c:v>
                </c:pt>
                <c:pt idx="2">
                  <c:v>Video</c:v>
                </c:pt>
                <c:pt idx="3">
                  <c:v>LMS/LRS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</c:v>
                </c:pt>
                <c:pt idx="1">
                  <c:v>2</c:v>
                </c:pt>
                <c:pt idx="2">
                  <c:v>2</c:v>
                </c:pt>
                <c:pt idx="3">
                  <c:v>3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/>
        <c:majorTickMark val="out"/>
        <c:minorTickMark val="none"/>
        <c:tickLblPos val="nextTo"/>
        <c:crossAx val="2226939960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-hero-v9.png"/>
          <p:cNvPicPr>
            <a:picLocks noChangeAspect="1"/>
          </p:cNvPicPr>
          <p:nvPr/>
        </p:nvPicPr>
        <p:blipFill>
          <a:blip r:embed="rId2"/>
          <a:srcRect l="20434" r="20434"/>
          <a:stretch>
            <a:fillRect/>
          </a:stretch>
        </p:blipFill>
        <p:spPr>
          <a:xfrm>
            <a:off x="4983480" y="0"/>
            <a:ext cx="720547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663440" y="0"/>
            <a:ext cx="109728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502920"/>
            <a:ext cx="777240" cy="777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063240" y="530352"/>
            <a:ext cx="1325880" cy="621792"/>
          </a:xfrm>
          <a:prstGeom prst="roundRect">
            <a:avLst/>
          </a:prstGeom>
          <a:solidFill>
            <a:srgbClr val="16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649224"/>
            <a:ext cx="132588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0891B2"/>
                </a:solidFill>
                <a:latin typeface="Arial"/>
              </a:rPr>
              <a:t>STORY · CHOICE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08760"/>
            <a:ext cx="4206240" cy="32918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COURSE SLIDES · WSQ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65960"/>
            <a:ext cx="4434840" cy="21031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920"/>
                </a:solidFill>
                <a:latin typeface="Arial"/>
              </a:rPr>
              <a:t>Mastering Articulate Storyline 360 for e-Learning Content Creation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187952"/>
            <a:ext cx="1234440" cy="7315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4507992"/>
            <a:ext cx="4343400" cy="1234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b="1" sz="1250">
                <a:solidFill>
                  <a:srgbClr val="5B6372"/>
                </a:solidFill>
                <a:latin typeface="Arial"/>
              </a:rPr>
              <a:t>Course code  </a:t>
            </a:r>
            <a:r>
              <a:rPr sz="1250">
                <a:solidFill>
                  <a:srgbClr val="5B6372"/>
                </a:solidFill>
                <a:latin typeface="Arial"/>
              </a:rPr>
              <a:t>TGS-2024042308</a:t>
            </a:r>
          </a:p>
          <a:p>
            <a:pPr>
              <a:spcAft>
                <a:spcPts val="400"/>
              </a:spcAft>
            </a:pPr>
            <a:r>
              <a:rPr b="1" sz="1250">
                <a:solidFill>
                  <a:srgbClr val="5B6372"/>
                </a:solidFill>
                <a:latin typeface="Arial"/>
              </a:rPr>
              <a:t>TSC  </a:t>
            </a:r>
            <a:r>
              <a:rPr sz="1250">
                <a:solidFill>
                  <a:srgbClr val="5B6372"/>
                </a:solidFill>
                <a:latin typeface="Arial"/>
              </a:rPr>
              <a:t>Content Strategy · ICT-SNM-4004-1.1</a:t>
            </a:r>
          </a:p>
          <a:p>
            <a:pPr>
              <a:spcAft>
                <a:spcPts val="400"/>
              </a:spcAft>
            </a:pPr>
            <a:r>
              <a:rPr b="1" sz="1250">
                <a:solidFill>
                  <a:srgbClr val="5B6372"/>
                </a:solidFill>
                <a:latin typeface="Arial"/>
              </a:rPr>
              <a:t>Provider  </a:t>
            </a:r>
            <a:r>
              <a:rPr sz="1250">
                <a:solidFill>
                  <a:srgbClr val="5B6372"/>
                </a:solidFill>
                <a:latin typeface="Arial"/>
              </a:rPr>
              <a:t>Tertiary Infotech Academy Pte Ltd · UEN: 201200696W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144768"/>
            <a:ext cx="42976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A580C"/>
                </a:solidFill>
                <a:latin typeface="Arial"/>
              </a:rPr>
              <a:t>Version v10 · 22 August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6473952"/>
            <a:ext cx="6035040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© 2026 Tertiary Infotech Academy Pte Ltd · TGS-2024042308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MANDATORY WSQ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Digital Attendance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4443984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4443984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3602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Complete the trainer-displayed electronic attendance for every required session.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4443984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444398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Identity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3602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only your authorised identity.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4443984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444398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3602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Remain until the trainer confirms the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TRAINER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Dr Alfred Ang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Principal Trainer · Tertiary Infotech Academy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Expertise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Digital transformation, courseware, e-learning systems and adult learning.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Facilitation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Concept explanation, coached Storyline practice and evidence review.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Traceable storyboards, accessible interactions and verified publishing.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Learning culture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Explain the reason behind every authoring decision.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Contact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enquiry@tertiaryinfotech.com · +65 6100 0613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OPENING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Your E-Learning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learning or content do you create or manage?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Audience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Who must act differently after the experience?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Channel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LMS, web, Review 360, video or facilitated delivery?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Friction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Where does current authoring or review lose time?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Experience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Storyline feature is already familiar?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artifact will prove improvement?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GROUND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Working Agreements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Participate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Try the tools and explain choices.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Respect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Critique the work, not the person.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Protect assets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permitted media and retain rights evidence.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Save versions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Preserve BEGIN/END files and name working copies.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Share safely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Protect learner data and assessment content.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Verify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Test preview and published output before delivery.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LMS-TMS · LEARNER 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Download Course Materials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37360"/>
            <a:ext cx="106070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37360"/>
            <a:ext cx="10607040" cy="502920"/>
          </a:xfrm>
          <a:prstGeom prst="rect">
            <a:avLst/>
          </a:prstGeom>
          <a:solidFill>
            <a:srgbClr val="16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24128" y="1901952"/>
            <a:ext cx="109728" cy="109728"/>
          </a:xfrm>
          <a:prstGeom prst="round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71016" y="1901952"/>
            <a:ext cx="109728" cy="10972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517904" y="1901952"/>
            <a:ext cx="109728" cy="109728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011680" y="1847088"/>
            <a:ext cx="7955279" cy="256032"/>
          </a:xfrm>
          <a:prstGeom prst="roundRect">
            <a:avLst/>
          </a:prstGeom>
          <a:solidFill>
            <a:srgbClr val="323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48840" y="1892807"/>
            <a:ext cx="7635240" cy="1463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lms-tms.tertiaryinfotech.com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578608"/>
            <a:ext cx="896112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1920"/>
                </a:solidFill>
                <a:latin typeface="Arial"/>
              </a:rPr>
              <a:t>Mastering Articulate Storyline 360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063240"/>
            <a:ext cx="47548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Courseware · v10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3767328"/>
            <a:ext cx="1664208" cy="150876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554480" y="3986784"/>
            <a:ext cx="749808" cy="56692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133087"/>
            <a:ext cx="749808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PPTX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39" y="4736592"/>
            <a:ext cx="1389888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1920"/>
                </a:solidFill>
                <a:latin typeface="Arial"/>
              </a:rPr>
              <a:t>Trainer deck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90672" y="3767328"/>
            <a:ext cx="1664208" cy="150876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547872" y="3986784"/>
            <a:ext cx="749808" cy="56692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47872" y="4133087"/>
            <a:ext cx="749808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PDF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27832" y="4736592"/>
            <a:ext cx="1389888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1920"/>
                </a:solidFill>
                <a:latin typeface="Arial"/>
              </a:rPr>
              <a:t>Learner slides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84064" y="3767328"/>
            <a:ext cx="1664208" cy="150876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541264" y="3986784"/>
            <a:ext cx="749808" cy="56692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41264" y="4133087"/>
            <a:ext cx="749808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21224" y="4736592"/>
            <a:ext cx="1389888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1920"/>
                </a:solidFill>
                <a:latin typeface="Arial"/>
              </a:rPr>
              <a:t>Detailed guide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77456" y="3767328"/>
            <a:ext cx="1664208" cy="150876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534656" y="3986784"/>
            <a:ext cx="749808" cy="56692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34656" y="4133087"/>
            <a:ext cx="749808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14616" y="4736592"/>
            <a:ext cx="1389888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1920"/>
                </a:solidFill>
                <a:latin typeface="Arial"/>
              </a:rPr>
              <a:t>Delivery plan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70848" y="3767328"/>
            <a:ext cx="1664208" cy="150876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528048" y="3986784"/>
            <a:ext cx="749808" cy="566928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28048" y="4133087"/>
            <a:ext cx="749808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08008" y="4736592"/>
            <a:ext cx="1389888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61920"/>
                </a:solidFill>
                <a:latin typeface="Arial"/>
              </a:rPr>
              <a:t>Storyline labs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5532120"/>
            <a:ext cx="98755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Outcome · the complete package is available in one authenticated course record.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COURSE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Four-Day Learning Journey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0392" y="2039112"/>
            <a:ext cx="548640" cy="548640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Storyboard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4017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048609" y="2039112"/>
            <a:ext cx="548640" cy="54864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8609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8609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Curate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82235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46827" y="2039112"/>
            <a:ext cx="548640" cy="54864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46827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6827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Interact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0452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45044" y="2039112"/>
            <a:ext cx="548640" cy="548640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5044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5044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Review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78670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43262" y="2039112"/>
            <a:ext cx="548640" cy="548640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43262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3262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Distribute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617720"/>
            <a:ext cx="10789920" cy="1133856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846320"/>
            <a:ext cx="15087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OUTCOME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773168"/>
            <a:ext cx="8915400" cy="6217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The course moves from content intent to accessible Storyline construction, reliable interaction and governed delivery.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CONTENT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Skills Framework Alignment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TSC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Content Strategy · ICT-SNM-4004-1.1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TGS-2024042308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Duration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4 days · 32 hours, including 2 hours of assessment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Knowledge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K1–K6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Abilities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A1–A7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Assessment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WA 60 min · PP 60 min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K1–K6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Knowledge Criteria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K1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Principles of digital storytelling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K2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Potential customers' evolving preferences for content types, styles and modes of delivery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K3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Process of developing a digital storyboard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K4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Parameters for delivering content for marketing purposes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K5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Features of marketing content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K6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Modes of content delivery for marketing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A1–A7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Ability Criteria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960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960120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865376"/>
            <a:ext cx="4892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34E6F"/>
                </a:solidFill>
                <a:latin typeface="Arial"/>
              </a:rPr>
              <a:t>A1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176272"/>
            <a:ext cx="4892040" cy="4480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Conceptualise content ideas to meet marketing objectives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960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9601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65376"/>
            <a:ext cx="4892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891B2"/>
                </a:solidFill>
                <a:latin typeface="Arial"/>
              </a:rPr>
              <a:t>A2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76272"/>
            <a:ext cx="4892040" cy="4480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Map out digital storyboards as part of a content strategy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916936"/>
            <a:ext cx="5294376" cy="960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2916936"/>
            <a:ext cx="73152" cy="9601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026664"/>
            <a:ext cx="4892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EA580C"/>
                </a:solidFill>
                <a:latin typeface="Arial"/>
              </a:rPr>
              <a:t>A3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337560"/>
            <a:ext cx="4892040" cy="4480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Identify content requirements from customer and potential-customer preferences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2916936"/>
            <a:ext cx="5294376" cy="960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2916936"/>
            <a:ext cx="73152" cy="960120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026664"/>
            <a:ext cx="4892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7E22CE"/>
                </a:solidFill>
                <a:latin typeface="Arial"/>
              </a:rPr>
              <a:t>A4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337560"/>
            <a:ext cx="4892040" cy="4480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Determine the frequency of delivering marketing content to customers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078224"/>
            <a:ext cx="5294376" cy="960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078224"/>
            <a:ext cx="73152" cy="960120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4187952"/>
            <a:ext cx="4892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F8A72"/>
                </a:solidFill>
                <a:latin typeface="Arial"/>
              </a:rPr>
              <a:t>A5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498848"/>
            <a:ext cx="4892040" cy="4480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Determine the types and styles of content to deliver to customers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078224"/>
            <a:ext cx="5294376" cy="960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1344" y="4078224"/>
            <a:ext cx="73152" cy="9601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187952"/>
            <a:ext cx="4892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D97706"/>
                </a:solidFill>
                <a:latin typeface="Arial"/>
              </a:rPr>
              <a:t>A6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498848"/>
            <a:ext cx="4892040" cy="4480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Determine modes and processes for distributing content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5239512"/>
            <a:ext cx="5294376" cy="960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5800" y="5239512"/>
            <a:ext cx="73152" cy="960120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256" y="5349240"/>
            <a:ext cx="48920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34E6F"/>
                </a:solidFill>
                <a:latin typeface="Arial"/>
              </a:rPr>
              <a:t>A7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5660136"/>
            <a:ext cx="4892040" cy="4480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>
                <a:solidFill>
                  <a:srgbClr val="5B6372"/>
                </a:solidFill>
                <a:latin typeface="Arial"/>
              </a:rPr>
              <a:t>Develop guidelines for content-strategy execution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WHAT YOU WILL BE ABLE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LO1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Conceptualise and map digital storyboards integrating principles of storytelling in Storyline 360.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LO2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Identify and determine diverse e-learning content aligned with audience preferences, industry trends and content features.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LO3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Determine effective modes and processes for distributing interactive e-learning content.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LO4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Develop guidelines and determine content delivery frequency for effective e-learning delivery.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FOUR CONNECTED LEARNING UNITS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Course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Topic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Get Started on Articulate Storyline 360
Performance gap · story purpose · storyboard · prototype · project model · interface · scenes · slides · layers · quizzes · media libraries
LO1 · A1 · A2 · K1 · K3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Topic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Working with Assets
Visual grammar · pictures · 360° media · video · audio · captions · accessible equivalents · web content · screen recordings · layout
LO2 · A3 · A5 · K2 · K5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Topic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Interactivity
Meaningful choice · learner-controlled discovery · triggers · states · variables · timeline · branching · feedback · motion
LO3 · A6 · K6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Topic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Presentation, Review and Distribution
Themes · masters · player · multi-device UX · accessibility · Review 360 · preview · LMS/LRS publishing · scheduling · governance
LO4 · A4 · A7 · K4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SUMMATIVE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Assessment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0392" y="2039112"/>
            <a:ext cx="548640" cy="548640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WA · K1–K6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4017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048609" y="2039112"/>
            <a:ext cx="548640" cy="54864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8609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8609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PP · A1–A2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82235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46827" y="2039112"/>
            <a:ext cx="548640" cy="54864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46827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6827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PP · A3–A5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0452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45044" y="2039112"/>
            <a:ext cx="548640" cy="548640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5044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5044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PP · A6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78670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43262" y="2039112"/>
            <a:ext cx="548640" cy="548640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43262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3262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PP · A4 + A7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617720"/>
            <a:ext cx="10789920" cy="1133856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846320"/>
            <a:ext cx="15087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OUTCOME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773168"/>
            <a:ext cx="8915400" cy="6217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Six written questions and four practical tasks; each instrument is 60 minutes and open book.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BEFORE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Assessment Briefing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Individual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Complete your own work with no discussion.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References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only materials approved by the assessor.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Phones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Place phones and other unapproved materials under the table.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WA 60 min · PP 60 min.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Submission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Complete the provided document and upload through LMS-TMS.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Outcome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Competent or Not Yet Competent, with reassessment and appeal rights.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AUTHORING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Tools, Materials and Workspace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Hardware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supported Windows laptop, suitable display, mouse and reliable storage.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Software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Current supported Articulate Storyline 360 desktop release.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Workspace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Local working folder with short paths and separate backup.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Sources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Rights-cleared pictures, audio, video, scripts and brand materials.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Output brief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Audience, device, channel, tracking, accessibility and update requirements.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Safety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Versioned .story files, protected assessment content and verified publishes.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TOOL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Storyline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Industry 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Interactive e-learning, simulations, quizzes, scenarios and tracked packages.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Windows authoring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Storyline desktop authoring requires a supported Windows environment.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Interface drift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Labels may move as releases evolve; authoring principles remain stable.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Decision over clicks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features by purpose, audience, accessibility and delivery.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Responsible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Review outputs and retain provenance and permission evidence.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Trademark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Articulate and Storyline are Articulate trademarks; this course is provider-developed.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02920"/>
            <a:ext cx="1143000" cy="1143000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1430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881360" cy="10972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Get Started on Articulate Storyline 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246120"/>
            <a:ext cx="1024128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8CFDA"/>
                </a:solidFill>
                <a:latin typeface="Arial"/>
              </a:rPr>
              <a:t>Performance gap · story purpose · storyboard · prototype · project model · interface · scenes · slides · layers · quizzes · media libraries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349240"/>
            <a:ext cx="59436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891B2"/>
                </a:solidFill>
                <a:latin typeface="Arial"/>
              </a:rPr>
              <a:t>LO1 · A1 · A2 · K1 · K3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EDITABLE STORYBOARD-PLANNING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Where Authoring Effort Accumulates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Course planning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83080"/>
          <a:ext cx="73609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394192" y="1874519"/>
            <a:ext cx="2971800" cy="361188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68512" y="2148840"/>
            <a:ext cx="242316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891B2"/>
                </a:solidFill>
                <a:latin typeface="Arial"/>
              </a:rPr>
              <a:t>READ THE CHART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2770632"/>
            <a:ext cx="2423160" cy="20574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Illustrative planning split: interactivity is only one workload. Story architecture, media readiness and review evidence must be planned before production.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8512" y="5074920"/>
            <a:ext cx="242316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Editable native PowerPoint chart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CONCEPT 01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Digital Storytelling as a Learning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digital story combines a purposeful narrative, evidence, media and learner agency so attention leads to a decision or behaviour.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Onboarding, compliance, product education and scenario-based learning where context matters.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narrative can be traced from business objective to learner action and measurable outcome.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Digital Storytelling as a Learning System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Audience; objective; protagonist; tension; choice; consequence; evidence; reflection.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Decorative stories with no decision, irrelevant emotion or a message that conflicts with the learning objective.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narrative can be traced from business objective to learner action and measurable outcome.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CONCEPT 02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Performance Gap Before Course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ebook: E-Learning for Beginners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Course design begins by separating a knowledge or skill gap from process, motivation, tooling or policy problems, then defining the observable performance and measurement strategy.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Deciding whether e-learning is an appropriate response and translating a business need into learner actions.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brief states the verified gap, the required learner behaviour and how success will be measured.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Performance Gap Before Course Design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ebook: E-Learning for Beginners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Stakeholders; current performance; desired performance; root cause; knowledge/skill evidence; objective; success metric.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40" b="1">
                <a:solidFill>
                  <a:srgbClr val="161920"/>
                </a:solidFill>
                <a:latin typeface="Arial"/>
              </a:rPr>
              <a:t>Starting with a feature list, accepting one stakeholder's opinion as the whole diagnosis or promising change that training cannot cause.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brief states the verified gap, the required learner behaviour and how success will be measured.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CONCEPT 03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Storyboard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storyboard makes the course visible before production by mapping screens, narration, media, interactions, transitions, branching and evidence.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Stakeholder alignment, estimating effort, accessibility planning and preventing expensive rework.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Every screen has a purpose, every branch reconnects or terminates deliberately, and every asset has an owner.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Storyboard Architecture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Screen ID; purpose; on-screen copy; narration; asset; interaction; branch; accessibility; owner; status.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Treating the storyboard as a static script or failing to show conditional paths and feedback.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Every screen has a purpose, every branch reconnects or terminates deliberately, and every asset has an owner.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CONCEPT 04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Prototype-to-Release Feedback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ebook: E-Learning for Beginners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small digital prototype makes navigation, visual treatment and interaction tangible before full production; alpha, beta and final releases then narrow the scope of change.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Surfacing hidden requirements, validating risky interactions and controlling stakeholder feedback.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Each review stage has a defined purpose, owner, decision record and traceable source version.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Prototype-to-Release Feedback Loop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ebook: E-Learning for Beginners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Concept approval; prototype scope; review questions; alpha completeness; beta target test; defect threshold; final sign-off.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40" b="1">
                <a:solidFill>
                  <a:srgbClr val="161920"/>
                </a:solidFill>
                <a:latin typeface="Arial"/>
              </a:rPr>
              <a:t>Building the whole course before testing the live design, mixing preference feedback with defects or making major structural changes during beta.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Each review stage has a defined purpose, owner, decision record and traceable source version.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CONCEPT 05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Audience, Objective and Content Promise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content promise states what the learner will be able to decide or do and why the experience is worth completing.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Selecting scope, tone, examples and interaction depth for a defined audience.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opening, activities and assessment all support the same learner promise.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Audience, Objective and Content Promise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Role; prior knowledge; device; context; time; motivation; risk; desired behaviour.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Beginning with software features instead of learner need, or promising outcomes the content cannot support.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opening, activities and assessment all support the same learner promise.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CONCEPT 06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Project Model and File Discipline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.story file packages scenes, slides, layers, media, triggers, variables, player settings and project metadata.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Versioned authoring, team handoff, recovery and evidence retention.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source opens locally, the version is identifiable and a separate backup exists.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Project Model and File Discipline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Local working drive; short path; version name; backup; media links; publish folder; archive.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Authoring directly on a network/removable drive, overwriting the only copy or confusing published output with the source.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source opens locally, the version is identifiable and a separate backup exists.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CONCEPT 07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Story View, Slide View and Interface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4828032" cy="4443984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egacy-slide-0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810591"/>
            <a:ext cx="4681728" cy="233409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8736" y="1956816"/>
            <a:ext cx="475488" cy="47548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0370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5B6372"/>
                </a:solidFill>
                <a:latin typeface="Arial"/>
              </a:rPr>
              <a:t>Story View reveals course flow; Slide View reveals one screen's objects, layers, timeline, states, triggers and properties.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88036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88736" y="3054096"/>
            <a:ext cx="475488" cy="47548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0098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Choosing the right view for architecture versus detailed construction.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977639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88736" y="4151376"/>
            <a:ext cx="475488" cy="47548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39826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507492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5248656"/>
            <a:ext cx="475488" cy="47548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49554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5B6372"/>
                </a:solidFill>
                <a:latin typeface="Arial"/>
              </a:rPr>
              <a:t>A reviewer can identify scene boundaries, navigation paths and the objects controlling the selected slide.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Story View, Slide View and Interface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Ribbon; scenes; slide canvas; timeline; states; notes; layers; triggers; properties; zoom.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Editing details without checking navigation or interpreting Story View connectors as decorative lines.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 reviewer can identify scene boundaries, navigation paths and the objects controlling the selected slide.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CONCEPT 08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Scenes, Slides and Navigation Order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Scenes group related slides while triggers determine actual navigation, including non-linear branches.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Modules, alternate pathways, remediation and reusable course sections.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Preview proves every intended route, back path and terminal state.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Scenes, Slides and Navigation Order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Scene start; slide order; next/previous triggers; jump target; branching; revisit behaviour.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Assuming visual order equals runtime order or creating branches with no return/exit path.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Preview proves every intended route, back path and terminal state.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CONCEPT 09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Slides, Layers and Revisit Behaviour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base slide can reveal layers without leaving the slide; layer properties decide visibility, timeline and revisit behaviour.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Progressive disclosure, modal explanations, feedback and controlled exploration.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Layer open/close, focus, timeline and revisit behaviour match the storyboard.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Slides, Layers and Revisit Behaviour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Hide other layers; hide base objects; prevent clicking; pause base; reset/resume/automatic revisit.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Unexpected reset, hidden content exposed to assistive technology or click-through behind a modal layer.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Layer open/close, focus, timeline and revisit behaviour match the storyboard.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CONCEPT 10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Question Slides and Form/Slide Views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Form View defines question data and scoring; Slide View controls the visual and interactive presentation.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Building graded and survey questions while preserving design control.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Preview shows correct scoring, feedback and navigation for correct, incorrect and incomplete responses.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Question Slides and Form/Slide Views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Question type; prompt; choices; correct response; shuffle; attempts; required; score; feedback; branch.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Designing before the scoring model is stable or using a question type that excludes keyboard users.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Preview shows correct scoring, feedback and navigation for correct, incorrect and incomplete responses.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CONCEPT 11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Result Slides and Completion Logic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4828032" cy="4443984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egacy-slide-1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699463"/>
            <a:ext cx="4681728" cy="255635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8736" y="1956816"/>
            <a:ext cx="475488" cy="47548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0370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5B6372"/>
                </a:solidFill>
                <a:latin typeface="Arial"/>
              </a:rPr>
              <a:t>A result slide aggregates selected questions or other result slides and can drive completion, pass/fail and retry logic.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88036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88736" y="3054096"/>
            <a:ext cx="475488" cy="47548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0098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Quizzes, assessments, knowledge checks and LMS reporting.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977639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88736" y="4151376"/>
            <a:ext cx="475488" cy="47548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39826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507492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5248656"/>
            <a:ext cx="475488" cy="47548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49554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5B6372"/>
                </a:solidFill>
                <a:latin typeface="Arial"/>
              </a:rPr>
              <a:t>Test attempts prove pass, fail, retry and resume outcomes; reported score matches the visible result.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Result Slides and Completion Logic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Tracked questions; passing score; timer; attempts; submit all; retry; review; completion trigger.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 result slide that tracks the wrong questions or reports completion before required interaction.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Test attempts prove pass, fail, retry and resume outcomes; reported score matches the visible result.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CONCEPT 12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Question Banks, Media Library and Content Library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Question banks randomise reusable questions; Media Library centralises project assets; Content Library supplies reusable templates and media.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Scaling consistent courses, controlled variation and efficient asset updates.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Each draw covers the intended criteria and asset replacement updates all expected instances.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Question Banks, Media Library and Content Library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Bank draw; random count; reuse; replace asset; accessibility metadata; template consistency.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Random draws that miss required coverage or replacing media without checking crops, captions and rights.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Each draw covers the intended criteria and asset replacement updates all expected instances.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HANDS-ON APPLICATION · 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Lab 01 · Replace Visuals and Establish a Theme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e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232850"/>
            <a:ext cx="3602736" cy="20265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Creative Minds is adapting a camping orientation template for a new learning campaign and needs a consistent visual identity without rebuilding the course.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Replace supplied media and harmonise the project theme while preserving scene structure and navigation.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Apply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Retain the working .story file plus screenshots of Story View, one edited slide and the theme settings.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click-by-click procedure · Learner Guide / Lab 01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HANDS-ON APPLICATION · 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Lab 02 · Populate the Storyboard with Course Content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e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232850"/>
            <a:ext cx="3602736" cy="20265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The same camping course now needs meaningful module descriptions and supporting imagery before stakeholder review.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Turn a skeletal template into a storyboard-aligned three-slide course overview using reusable project assets.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Apply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Retain the completed .story file, a three-screen storyboard table and accessibility/focus-order screenshots.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click-by-click procedure · Learner Guide / Lab 02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EXPLAIN THE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Topic 1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must the learner understand or do?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Audience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preference or constraint shaped the design?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Mechanism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Storyline object or logic implements it?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Failure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would make the experience unusable or misleading?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Proof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preview, publish or accessibility test demonstrates quality?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Next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evidence would justify the next revision?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02920"/>
            <a:ext cx="1143000" cy="114300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1430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881360" cy="10972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Working with Assets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246120"/>
            <a:ext cx="1024128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8CFDA"/>
                </a:solidFill>
                <a:latin typeface="Arial"/>
              </a:rPr>
              <a:t>Visual grammar · pictures · 360° media · video · audio · captions · accessible equivalents · web content · screen recordings · 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349240"/>
            <a:ext cx="59436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891B2"/>
                </a:solidFill>
                <a:latin typeface="Arial"/>
              </a:rPr>
              <a:t>LO2 · A3 · A5 · K2 · K5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EDITABLE CONTENT-PLANNING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Accessible Media Mix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Course design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83080"/>
          <a:ext cx="73609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394192" y="1874519"/>
            <a:ext cx="2971800" cy="361188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68512" y="2148840"/>
            <a:ext cx="242316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READ THE CHART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2770632"/>
            <a:ext cx="2423160" cy="20574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A mixed design serves different learning needs. Every audio/video element still needs captions, an accessible path and a reason to exist.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8512" y="5074920"/>
            <a:ext cx="242316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Editable native PowerPoint chart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CONCEPT 13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Content Requirements from Audience Preferences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Content type, length, style, interaction and channel are selected from audience evidence rather than author preference.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Microlearning, mobile use, multilingual audiences and role-specific performance support.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requirements matrix links each preference to a design and delivery response.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Content Requirements from Audience Preferences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Persona; device; bandwidth; accessibility; context; frequency; tone; data sensitivity.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Equating novelty with relevance or using a single format for every audience.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 requirements matrix links each preference to a design and delivery response.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CONCEPT 14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Visual Design Grammar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ebook: Engaging E-Learning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Colour, contrast, repetition, alignment and balance create hierarchy and unity so learners can recognise what matters and how screens relate.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Establishing a coherent theme, reusable component set and predictable reading path.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grayscale and alignment review still reveals hierarchy, grouping and intended emphasis across representative screens.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Visual Design Grammar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ebook: Engaging E-Learning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Purposeful palette; strong contrast; repeated typography and shapes; grid alignment; visual weight; consistent image style.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40" b="1">
                <a:solidFill>
                  <a:srgbClr val="161920"/>
                </a:solidFill>
                <a:latin typeface="Arial"/>
              </a:rPr>
              <a:t>Near-matches that look accidental, too many competing styles, colour-only meaning or balancing decoration instead of instructional emphasis.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 grayscale and alignment review still reveals hierarchy, grouping and intended emphasis across representative screens.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CONCEPT 15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Pictures and Visual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Pictures carry meaning when crop, contrast, focal point and proximity support the message.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Context-setting, demonstrations, comparison and emotional framing.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focal point survives projection and mobile viewing, and the image has appropriate alternative text.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Pictures and Visual Hierarchy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Crop; size; position; transparency; recolour; alt text; compression; replace picture.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Low-resolution sources, decorative clutter, stretched images or text placed over busy detail.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focal point survives projection and mobile viewing, and the image has appropriate alternative text.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CONCEPT 16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360° Images, Markers and Hotspots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360° image creates an explorable environment; markers present information and hotspots define interactive regions.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Virtual tours, safety inspections, product familiarisation and spatial decisions.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Keyboard and pointer tests reach every required target and the learner knows when exploration is complete.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360° Images, Markers and Hotspots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Initial view; marker; hotspot; label; media; navigation; accessibility; completion rule.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Hidden required targets, motion discomfort, inaccessible hotspots or no cue that the scene is interactive.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Keyboard and pointer tests reach every required target and the learner knows when exploration is complete.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CONCEPT 17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Video as Demonstration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Video shows change over time but requires deliberate pacing, controls, compression and an accessible alternative.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Procedural demonstrations, expert messages and behaviour modelling.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Playback works in the publish target and captions/transcript convey equivalent information.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Video as Demonstration Evidence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Insert/website video; trim; poster frame; playback; controls; captions; transcript; quality.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Autoplay with sound, unreadable screen detail, missing captions or interaction placed over video controls.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Playback works in the publish target and captions/transcript convey equivalent information.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CONCEPT 18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Video and Screencast Production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ebook: Great E-Learning Videos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Clear audio, a controlled recording environment, a concise outline and a rehearsed screen path improve instructional video more than expensive equipment alone.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Talking-head introductions, software demonstrations and short worked examples.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test recording is intelligible, visually stable and follows a rehearsed path with no private or distracting content.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Video and Screencast Production Workflow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ebook: Great E-Learning Videos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External microphone; noise/echo check; lighting; stable camera; outline; recording window; prepared files; dry run; edit points.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40" b="1">
                <a:solidFill>
                  <a:srgbClr val="161920"/>
                </a:solidFill>
                <a:latin typeface="Arial"/>
              </a:rPr>
              <a:t>Relying on camera quality while ignoring sound, improvising a long script, exposing notifications or searching for files during capture.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 test recording is intelligible, visually stable and follows a rehearsed path with no private or distracting content.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CONCEPT 19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Audio, Narration and Closed Captions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Narration can guide attention while captions expose speech and meaningful sound to learners who cannot hear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Story-led modules, demonstrations and multilingual or noisy environments.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Audio is intelligible, synchronised and optional; captions are accurate and available in the player.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Audio, Narration and Closed Captions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Record/import; waveform; trim; fade; volume; VTT captions; caption button; transcript.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Narration duplicating every on-screen word, inconsistent levels, timing drift or captions covering controls.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Audio is intelligible, synchronised and optional; captions are accurate and available in the player.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CONCEPT 20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Accessible Media Equivalence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ebook: Accessible E-Learning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Accessible media provides equivalent meaning through captions, transcripts, descriptive narration or an accessible job aid, while keeping playback under learner control.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Audio, talking-head video, demonstrations and software training used by learners with hearing, vision or mobility limitations.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learner can obtain the same instructional meaning and complete the task without depending on sight, hearing or precise pointer control.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Accessible Media Equivalence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ebook: Accessible E-Learning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40" b="1">
                <a:solidFill>
                  <a:srgbClr val="161920"/>
                </a:solidFill>
                <a:latin typeface="Arial"/>
              </a:rPr>
              <a:t>Speaker identification; meaningful sound; visual-action description; transcript; step-based job aid; pause/seek; keyboard path; non-autoplay.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40" b="1">
                <a:solidFill>
                  <a:srgbClr val="161920"/>
                </a:solidFill>
                <a:latin typeface="Arial"/>
              </a:rPr>
              <a:t>A verbatim transcript that omits visual actions, captions without meaningful sound, forced autoplay or requiring learners to self-identify before receiving an equivalent.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40" b="1">
                <a:solidFill>
                  <a:srgbClr val="161920"/>
                </a:solidFill>
                <a:latin typeface="Arial"/>
              </a:rPr>
              <a:t>A learner can obtain the same instructional meaning and complete the task without depending on sight, hearing or precise pointer control.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CONCEPT 21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Accessibility: Focus, Names and Alternatives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Accessibility Maturity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accessibility tree, focus order, object names and alternative text determine what keyboard and screen-reader users encounter.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Every production course, especially custom navigation and layered interactions.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Keyboard-only and screen-reader walkthroughs preserve meaning, order and operability.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Accessibility: Focus, Names and Alternatives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Accessibility Maturity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Focus order; visible to accessibility tools; alt text; object name; tab sequence; focus indicator; language.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Decorative objects announced, duplicate labels, illogical focus or interactions that depend only on hover/drag.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Keyboard-only and screen-reader walkthroughs preserve meaning, order and operability.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CONCEPT 22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Web Objects and External Content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web object embeds or launches web content while the course remains responsible for context, security and fallback.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Live reference tools, maps, simulations or approved external services.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Published tests confirm access, fallback, privacy expectations and keyboard exit from the object.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Web Objects and External Content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URL/local web folder; load automatically/on click; display in slide/new window; fallback link; focus.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Third-party tracking, mixed content, offline failure, broken focus or assuming embedded content is accessible.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Published tests confirm access, fallback, privacy expectations and keyboard exit from the object.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CONCEPT 23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Screen Recording Modes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One recording can be inserted as a video or as step-by-step View, Try and Test slides.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Software demonstrations, coached simulations and performance checks.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learner can see the target action and the simulation accepts the intended interaction.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Screen Recording Modes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Recording area; microphone; screen size; video/View/Try/Test; action captions; mouse path; edits.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Recording personal data, tiny UI, changing software versions or generating unreliable automatic steps.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learner can see the target action and the simulation accepts the intended interaction.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CONCEPT 24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Shapes, Captions, Text Boxes and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Native objects create editable structure, hierarchy and interactive targets without baking information into an image.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Callouts, process graphics, labels, layouts and accessible data presentation.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Objects remain editable, readable and logically ordered at the delivery size.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Shapes, Captions, Text Boxes and Tables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Fill; line; radius; text style; margins; alignment; table headers; accessibility; states.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Small targets, low contrast, inconsistent typography or using a table only to position content.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Objects remain editable, readable and logically ordered at the delivery size.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CONCEPT 25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Formatting, Sizing and Positioning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Consistent alignment, spacing, size and theme choices reduce cognitive load and make interaction predictable.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Templates, reusable components and multi-author projects.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Shared edges and spacing are consistent; no object clips at common player sizes.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Formatting, Sizing and Positioning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Align; distribute; size; position; rotation; guides; theme fonts/colours; format painter.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Pixel-level drift, stretched media, accidental off-slide objects or inconsistent states.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Shared edges and spacing are consistent; no object clips at common player sizes.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HANDS-ON APPLICATION · 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Lab 03 · Curate and Replace Audience-Fit Media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e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232850"/>
            <a:ext cx="3602736" cy="20265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Stakeholder feedback says the first visual set does not fit new campers in a contemporary learning context.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Evaluate customer preferences, select a suitable visual style and replace project assets consistently.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Apply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Retain the completed .story file, audience requirements matrix, asset/source register and before/after screenshots.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click-by-click procedure · Learner Guide / Lab 03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HANDS-ON APPLICATION · 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Lab 04 · Create and Govern an AI-Assisted Visual Variation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e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232850"/>
            <a:ext cx="3602736" cy="20265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Creative Minds wants to test a western-poster visual direction without losing the approved baseline or provenance record.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Create an AI-assisted visual variation, evaluate it against the brief and retain transparent provenance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Apply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Retain the completed .story file, prompt/provenance record, evaluation checklist and before/after screenshots.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click-by-click procedure · Learner Guide / Lab 04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HANDS-ON APPLICATION · 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Lab 05 · Add Narration and Closed Captions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e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232850"/>
            <a:ext cx="3602736" cy="20265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The course needs optional narration for guidance and accurate captions for learners in noisy or hearing-limited contexts.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Add and synchronise narration, captions and accessible playback controls without duplicating unnecessary on-screen 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Apply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Retain the completed .story file, caption-timing screenshot, waveform/timeline screenshot and accessibility test record.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click-by-click procedure · Learner Guide / Lab 05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HANDS-ON APPLICATION · TOPIC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Lab 06 · Build a Multi-Slide Audio and Caption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e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232850"/>
            <a:ext cx="3602736" cy="20265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A three-slide course needs consistent narration, caption files and learner control across the whole scene.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Implement multiple audio/caption tracks consistently and validate timing, focus and playback behaviour across slides.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Apply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Retain the completed .story file, media map, scene-wide audio/caption test matrix and representative screenshots.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click-by-click procedure · Learner Guide / Lab 06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EXPLAIN THE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Topic 2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must the learner understand or do?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Audience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preference or constraint shaped the design?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Mechanism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Storyline object or logic implements it?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Failure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would make the experience unusable or misleading?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Proof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preview, publish or accessibility test demonstrates quality?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Next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evidence would justify the next revision?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02920"/>
            <a:ext cx="1143000" cy="114300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1430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881360" cy="10972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Interactivity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246120"/>
            <a:ext cx="1024128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8CFDA"/>
                </a:solidFill>
                <a:latin typeface="Arial"/>
              </a:rPr>
              <a:t>Meaningful choice · learner-controlled discovery · triggers · states · variables · timeline · branching · feedback · motion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349240"/>
            <a:ext cx="59436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891B2"/>
                </a:solidFill>
                <a:latin typeface="Arial"/>
              </a:rPr>
              <a:t>LO3 · A6 · K6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EDITABLE QA-PLANNING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Interaction Complexity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Course QA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83080"/>
          <a:ext cx="73609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394192" y="1874519"/>
            <a:ext cx="2971800" cy="361188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68512" y="2148840"/>
            <a:ext cx="242316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E22CE"/>
                </a:solidFill>
                <a:latin typeface="Arial"/>
              </a:rPr>
              <a:t>READ THE CHART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2770632"/>
            <a:ext cx="2423160" cy="20574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Illustrative test-case counts grow faster than the number of visible screens. Map trigger order, revisit, retry and accessibility before adding complexity.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8512" y="5074920"/>
            <a:ext cx="242316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Editable native PowerPoint chart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CONCEPT 26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Zoom Regions and Guided Attention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755648"/>
            <a:ext cx="4828032" cy="4443984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egacy-slide-6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2001113"/>
            <a:ext cx="4681728" cy="395305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178308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1956816"/>
            <a:ext cx="475488" cy="47548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3895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5" y="220370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A zoom region enlarges a defined area during the slide timeline to direct attention.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" y="3054096"/>
            <a:ext cx="475488" cy="47548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3895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5" y="330098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Screen detail, maps and still-image close-ups where context can be restored.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" y="4151376"/>
            <a:ext cx="475488" cy="47548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895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895" y="439826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07492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" y="5248656"/>
            <a:ext cx="475488" cy="47548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3895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5" y="549554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The zoom begins when the explanation needs it and returns without hiding required context.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Zoom Regions and Guided Attention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Region bounds; position; timeline start/end; speed; layer limitation; return to normal.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Motion without purpose, unreadable destination detail or excessive zoom causing disorientation.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zoom begins when the explanation needs it and returns without hiding required context.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CONCEPT 27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Buttons, Markers, Hotspots and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Interactive objects expose actions through clear affordances, states, labels and trigger responses.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Exploration, reveal interactions, custom navigation and decision points.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Pointer, keyboard and screen-reader users can identify, operate and understand every control.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Buttons, Markers, Hotspots and Controls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Target size; normal/hover/selected/visited/disabled; alt text; trigger; focus order; feedback.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Invisible hotspots, tiny targets, colour-only state changes or controls that look decorative.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Pointer, keyboard and screen-reader users can identify, operate and understand every control.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CONCEPT 28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Meaningful Choice, Consequence and Feedback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ebook: Engaging E-Learning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An interaction earns its place when a realistic learner decision changes what happens next and feedback explains the consequence in context.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Scenario practice, judgement calls, objection handling and safe rehearsal of high-risk decisions.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reviewer can trace each interaction from objective to authentic decision, consequence and transferable feedback.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Meaningful Choice, Consequence and Feedback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ebook: Engaging E-Learning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Relevant prompt; plausible options; decision point; immediate consequence; explanatory feedback; retry/reflection; objective alignment.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Clicking for its own sake, trivia disconnected from work, cosmetic branches or feedback that only says correct/incorrect.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 reviewer can trace each interaction from objective to authentic decision, consequence and transferable feedback.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CONCEPT 29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Trigger Anatomy and Execution Order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4828032" cy="4443984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egacy-slide-4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984375"/>
            <a:ext cx="4681728" cy="398652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8736" y="1956816"/>
            <a:ext cx="475488" cy="47548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0370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5B6372"/>
                </a:solidFill>
                <a:latin typeface="Arial"/>
              </a:rPr>
              <a:t>A trigger performs an action on an object or variable when an event occurs, optionally under conditions.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88036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88736" y="3054096"/>
            <a:ext cx="475488" cy="47548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0098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Navigation, layer control, state changes, media control, scoring and custom logic.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977639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88736" y="4151376"/>
            <a:ext cx="475488" cy="47548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39826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507492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5248656"/>
            <a:ext cx="475488" cy="47548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49554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Trigger panel order matches the logic diagram and tests prove every condition path.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Trigger Anatomy and Execution Order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Action; target; event; object; condition; order; scope; copied trigger.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Correct triggers in the wrong order, triggers attached to covered objects or ambiguous next-slide targets.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Trigger panel order matches the logic diagram and tests prove every condition path.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CONCEPT 30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Object States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755648"/>
            <a:ext cx="4828032" cy="4443984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egacy-slide-6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2945259"/>
            <a:ext cx="4681728" cy="206476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178308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1956816"/>
            <a:ext cx="475488" cy="47548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3895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5" y="220370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5B6372"/>
                </a:solidFill>
                <a:latin typeface="Arial"/>
              </a:rPr>
              <a:t>States store visual versions of one object; built-in states may respond automatically while custom states need explicit logic.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" y="3054096"/>
            <a:ext cx="475488" cy="47548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3895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5" y="330098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Selection, progress, disabled controls, visited indicators and feedback.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" y="4151376"/>
            <a:ext cx="475488" cy="47548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895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895" y="439826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07492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" y="5248656"/>
            <a:ext cx="475488" cy="47548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3895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5" y="549554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State changes are predictable, perceivable and preserved appropriately on revisit.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Object States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Normal; hover; down; selected; visited; disabled; custom; initial state; edit states.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Duplicating objects instead of states, hiding critical meaning only in colour or leaving a disabled control focusable.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State changes are predictable, perceivable and preserved appropriately on revisit.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CONCEPT 31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Variables and Conditional Logic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4828032" cy="4443984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egacy-slide-6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946054"/>
            <a:ext cx="4681728" cy="406317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8736" y="1956816"/>
            <a:ext cx="475488" cy="47548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0370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5B6372"/>
                </a:solidFill>
                <a:latin typeface="Arial"/>
              </a:rPr>
              <a:t>Text, number and true/false variables retain information that triggers can evaluate to personalise or control flow.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88036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88736" y="3054096"/>
            <a:ext cx="475488" cy="47548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0098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Progress gates, scores, names, branching, toggles and completion checks.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977639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88736" y="4151376"/>
            <a:ext cx="475488" cy="47548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39826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507492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5248656"/>
            <a:ext cx="475488" cy="47548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49554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5B6372"/>
                </a:solidFill>
                <a:latin typeface="Arial"/>
              </a:rPr>
              <a:t>A test matrix proves default, boundary and reset cases and shows the variable value where needed.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Variables and Conditional Logic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Variable type; default; adjust; reference; condition; operator; scope; reset.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Type mismatch, stale values on retry, multiple variables representing one fact or conditions evaluated too early.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 test matrix proves default, boundary and reset cases and shows the variable value where needed.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CONCEPT 32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Timeline, Cue Points and Synchronisation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755648"/>
            <a:ext cx="4828032" cy="4443984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egacy-slide-7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3151697"/>
            <a:ext cx="4681728" cy="16518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178308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1956816"/>
            <a:ext cx="475488" cy="47548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3895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5" y="220370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5B6372"/>
                </a:solidFill>
                <a:latin typeface="Arial"/>
              </a:rPr>
              <a:t>The timeline controls when objects and media appear; cue points provide named anchors for synchronised actions.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88036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" y="3054096"/>
            <a:ext cx="475488" cy="47548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3895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5" y="330098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Narrated animation, timed reveals and media-coordinated interactions.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" y="4151376"/>
            <a:ext cx="475488" cy="47548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895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895" y="439826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07492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" y="5248656"/>
            <a:ext cx="475488" cy="47548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3895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5" y="549554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Playback remains synchronised after seeking, replay and common device performance variation.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Timeline, Cue Points and Synchronisation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Start/end; show until end; align to playhead; cue point; lock; visibility; waveform.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Objects ending too early, animation drift after audio edits or a locked timeline hiding the cause.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Playback remains synchronised after seeking, replay and common device performance variation.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CONCEPT 33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Animations, Motion Paths and Transitions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Animations affect objects, motion paths move them, and transitions affect the change between slides.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Demonstrating sequence, change, direction and continuity.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Motion clarifies one teaching point and the static slide still communicates the complete meaning.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Animations, Motion Paths and Transitions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Entrance/exit/emphasis; duration; delay; direction; path; orient to path; transition.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Decorative motion, competing animations, motion-trigger mismatch or inaccessible information shown too briefly.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Motion clarifies one teaching point and the static slide still communicates the complete meaning.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CONCEPT 34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Freeform Interactions and Question Conversion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Existing objects can become selectable, drag-and-drop, text-entry or hotspot responses with scoring and feedback.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Authentic decisions where standard question layouts are too restrictive.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interaction has an accessible equivalent and correct/incorrect outcomes match the rubric.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Freeform Interactions and Question Conversion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Convert to freeform; response objects; drop targets; correct set; attempts; feedback; accessibility.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Beautiful interaction with ambiguous instructions, overlapping targets or keyboard-inaccessible drag behaviour.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interaction has an accessible equivalent and correct/incorrect outcomes match the rubric.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CONCEPT 35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Branching Scenarios and Consequences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Branches let learner choices reveal consequences, coaching and alternative routes before reconnecting to a common outcome.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Conversations, safety decisions, customer handling and ethical choices.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Every route has a defined purpose, duration and outcome; the storyboard accounts for all nodes.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Branching Scenarios and Consequences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Decision node; choice; consequence; feedback; variable; branch map; merge point; retry.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Branches that differ only cosmetically, dead ends, exponential complexity or moralising feedback.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Every route has a defined purpose, duration and outcome; the storyboard accounts for all nodes.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CONCEPT 36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Learner-Controlled Pull and Progressive Disclosure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ebook: Engaging E-Learning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Learners pull concise supporting content when they need it, while essential decisions and objectives remain visible and navigation stays understandable.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Optional examples, definitions, job aids, deeper explanations and non-linear exploration.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learner can locate needed support, skip known material and still understand what is required for completion.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Learner-Controlled Pull and Progressive Disclosure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ebook: Engaging E-Learning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Need-to-know core; optional layer; label; menu cue; visited state; completion rule; skip path; return point.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Locking every path, hiding required information behind exploration, overwhelming one screen or using unlabeled hotspots.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learner can locate needed support, skip known material and still understand what is required for completion.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CONCEPT 37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Interaction QA and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Interaction quality is demonstrated with a test matrix covering behaviour, accessibility, content and device conditions.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Before stakeholder review, LMS upload and formal assessment.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signed checklist records expected versus actual results and links defects to corrected versions.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Interaction QA and Evidence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Happy path; wrong path; boundary; revisit; retry; keyboard; captions; focus; responsive player; resume.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Testing only the author’s preferred path or relying on preview when the publish target behaves differently.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 signed checklist records expected versus actual results and links defects to corrected versions.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HANDS-ON APPLICATION · 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Lab 07 · Build a Graded Question with Feedback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e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232850"/>
            <a:ext cx="3602736" cy="20265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The camping module needs a defensible knowledge check on campsite-selection criteria.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Add a graded question with plausible distractors, feedback, scoring and accessible response behaviour.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Apply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Retain the completed .story file, question specification, trigger/feedback screenshots and a five-case test matrix.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click-by-click procedure · Learner Guide / Lab 07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HANDS-ON APPLICATION · TOPIC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Lab 08 · Build a Multi-Question Quiz and Result Logic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e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232850"/>
            <a:ext cx="3602736" cy="20265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The course team must expand the check to cover campsite selection and essential equipment while reporting a reliable result.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Create a multi-question quiz with single- and multiple-response items, feedback, result logic and retry behaviour.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Apply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Retain the completed .story file, question-to-criterion map, result settings screenshot and pass/fail/retry test log.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click-by-click procedure · Learner Guide / Lab 08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EXPLAIN THE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Topic 3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must the learner understand or do?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Audience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preference or constraint shaped the design?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Mechanism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Storyline object or logic implements it?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Failure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would make the experience unusable or misleading?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Proof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preview, publish or accessibility test demonstrates quality?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Next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evidence would justify the next revision?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02920"/>
            <a:ext cx="1143000" cy="1143000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1430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881360" cy="10972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Presentation, Review and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246120"/>
            <a:ext cx="1024128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8CFDA"/>
                </a:solidFill>
                <a:latin typeface="Arial"/>
              </a:rPr>
              <a:t>Themes · masters · player · multi-device UX · accessibility · Review 360 · preview · LMS/LRS publishing · scheduling ·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349240"/>
            <a:ext cx="59436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891B2"/>
                </a:solidFill>
                <a:latin typeface="Arial"/>
              </a:rPr>
              <a:t>LO4 · A4 · A7 · K4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EDITABLE CHANNEL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Distribution Capability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publishing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83080"/>
          <a:ext cx="73609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394192" y="1874519"/>
            <a:ext cx="2971800" cy="361188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68512" y="2148840"/>
            <a:ext cx="242316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READ THE CHART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2770632"/>
            <a:ext cx="2423160" cy="20574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Illustrative 1–5 comparison: choose the channel from interaction, tracking, review and governance requirements—not from export convenience alone.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8512" y="5074920"/>
            <a:ext cx="242316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Editable native PowerPoint chart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CONCEPT 38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Themes, Slide Masters and Design Governance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Themes define fonts and colours while masters/layouts define reusable structure and inheritance.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Brand consistency, accessible templates and efficient multi-course production.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New slides inherit approved typography, contrast and geometry without manual repair.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Themes, Slide Masters and Design Governance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Theme fonts; theme colours; master; layout; placeholder; background; inherited object.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Direct formatting everywhere, editing the wrong level or using master objects as essential interaction targets.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New slides inherit approved typography, contrast and geometry without manual repair.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CONCEPT 39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Player Features and Navigation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player wraps course content with menu, controls, resources, seekbar, captions and responsive behaviour.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Consistent navigation, learner control and delivery context.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player supports the storyboard, accessibility plan and completion rules on desktop and mobile.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Player Features and Navigation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Modern/classic player; menu; previous/next; seekbar; volume; captions; resources; labels; resume.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Player controls conflicting with custom navigation, unrestricted seeking bypassing required content or hidden captions.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player supports the storyboard, accessibility plan and completion rules on desktop and mobile.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CONCEPT 40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Multi-Device UX and Real-Device Testing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ebook: Multi-Device E-Learning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Multi-device design combines immediacy, clear affordances and touch-friendly interaction, then verifies the experience in the devices, orientations and contexts learners actually use.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Responsive-player courses, mobile performance support and mixed desktop/tablet/phone audiences.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Desktop, tablet and phone tests record readability, touch accuracy, orientation, media performance, keyboard behaviour and completion/resume results.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Multi-Device UX and Real-Device Testing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ebook: Multi-Device E-Learning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40" b="1">
                <a:solidFill>
                  <a:srgbClr val="161920"/>
                </a:solidFill>
                <a:latin typeface="Arial"/>
              </a:rPr>
              <a:t>Screen size; orientation; touch target; spacing; hover alternative; readable type; virtual keyboard; gesture cue; bandwidth; real-device matrix.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40" b="1">
                <a:solidFill>
                  <a:srgbClr val="161920"/>
                </a:solidFill>
                <a:latin typeface="Arial"/>
              </a:rPr>
              <a:t>Shrinking desktop layouts, hiding critical content in hover states, tiny controls, long text entry or trusting a responsive preview as final proof.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40" b="1">
                <a:solidFill>
                  <a:srgbClr val="161920"/>
                </a:solidFill>
                <a:latin typeface="Arial"/>
              </a:rPr>
              <a:t>Desktop, tablet and phone tests record readability, touch accuracy, orientation, media performance, keyboard behaviour and completion/resume results.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CONCEPT 41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Accessible Player and Focus Styling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Accessibility Maturity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Player accessibility settings affect readable text, focus visibility, keyboard navigation and learner control.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Courses intended for broad public or workforce access.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Published output passes keyboard, zoom, focus and assistive-technology checks.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Accessible Player and Focus Styling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Accessibility Maturity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Accessible text; focus colour; zoom-to-fit; keyboard shortcuts; labels; captions; playback speed.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Low-contrast focus, disabling navigation shortcuts without an equivalent or assuming authoring preview proves accessibility.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Published output passes keyboard, zoom, focus and assistive-technology checks.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CONCEPT 42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Review 360 Collaboration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Review 360 publishes a review copy where stakeholders comment against slides and versions.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Structured review, distributed stakeholders and traceable approval.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Comments have owners and dispositions; the approved version maps to the retained .story source.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Review 360 Collaboration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Publish/update item; reviewer link; password; comments; replies; resolve/reopen; version.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Using comments as the only requirement record, sharing sensitive content broadly or overwriting an approved version.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Comments have owners and dispositions; the approved version maps to the retained .story source.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CONCEPT 43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Preview Strategy and Publish-Only Tests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Preview tests authoring logic quickly, while published output is required for web objects, LMS communication and final runtime behaviour.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Progressive QA from slide to scene to full course and target environment.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final package is tested in its actual browser/LMS target using the acceptance matrix.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Preview Strategy and Publish-Only Tests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Preview slide/scene/project; replay; device view; publish; browser test; console/LMS test.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Treating preview as final evidence or testing only one browser and screen size.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final package is tested in its actual browser/LMS target using the acceptance matrix.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CONCEPT 44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Publishing Channels and Trade-offs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Storyline can publish to Review 360, web, video, Word, LMS/LRS and supported distribution platforms; each preserves different capabilities.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Selecting delivery by interactivity, tracking, review, accessibility, connectivity and governance needs.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chosen channel supports the required interaction, tracking and audience access.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Publishing Channels and Trade-offs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Channel; interactivity; tracking; package; hosting; privacy; update process; offline need.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Publishing interactive content as video, hosting LMS output as plain web content or exposing source files.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chosen channel supports the required interaction, tracking and audience access.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E22CE"/>
                </a:solidFill>
                <a:latin typeface="Arial"/>
              </a:rPr>
              <a:t>CONCEPT 45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LMS/LRS Standards and Tracking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4828032" cy="4443984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egacy-slide-9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1828800"/>
            <a:ext cx="4297680" cy="4297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2432" y="178308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8736" y="1956816"/>
            <a:ext cx="475488" cy="47548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88736" y="201168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2938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0370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5B6372"/>
                </a:solidFill>
                <a:latin typeface="Arial"/>
              </a:rPr>
              <a:t>SCORM, AICC, xAPI and cmi5 package content and communicate different completion, score and activity data to a delivery system.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42432" y="288036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88736" y="3054096"/>
            <a:ext cx="475488" cy="47548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88736" y="310896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02666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Best used for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0098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Tracked learning, compliance evidence and analytics across compatible LMS/LRS platforms.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2432" y="3977639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88736" y="4151376"/>
            <a:ext cx="475488" cy="47548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88736" y="420624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12394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Professional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39826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2432" y="5074920"/>
            <a:ext cx="4846320" cy="93268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88736" y="5248656"/>
            <a:ext cx="475488" cy="475488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5303520"/>
            <a:ext cx="475488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21224"/>
            <a:ext cx="38862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920"/>
                </a:solidFill>
                <a:latin typeface="Arial"/>
              </a:rPr>
              <a:t>Quality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495544"/>
            <a:ext cx="3886200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5B6372"/>
                </a:solidFill>
                <a:latin typeface="Arial"/>
              </a:rPr>
              <a:t>A sandbox launch records the intended status, score, completion and resume data.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LMS/LRS Standards and Tracking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Standard/version; completion trigger; result slide; passing score; reporting status; identifier; launch.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Choosing a standard the LMS does not support, changing identifiers carelessly or testing only the launch page.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 sandbox launch records the intended status, score, completion and resume data.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CONCEPT 46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Distribution Plan and Delivery Frequency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distribution plan maps audience segments to channels, release timing, reminders, maintenance and measurement.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Campaign learning, product launches, onboarding waves and recurring compliance content.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plan justifies frequency and records owner, success measure and update rule.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Distribution Plan and Delivery Frequency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Audience; channel; cadence; time zone; dependency; owner; metric; refresh trigger; escalation.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Sending too frequently, ignoring local time/context or publishing updates without change communication.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plan justifies frequency and records owner, success measure and update rule.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Arial"/>
              </a:rPr>
              <a:t>CONCEPT 47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Content Strategy Execution Guidelines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Guidelines turn repeated design and publishing decisions into a governed, reviewable operating model.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Multi-author teams and courses that need consistent quality over time.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 new author can build and publish a compliant module using the guideline and checklist.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Content Strategy Execution Guidelines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Voice; brand; accessibility; interaction patterns; naming; review gates; rights; publishing; archive.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 style guide that covers appearance but not behaviour, evidence, ownership or exceptions.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A new author can build and publish a compliant module using the guideline and checklist.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CONCEPT 48 ·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Maintenance, Analytics and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Published learning is monitored, reviewed and retired using learner evidence, defects, content age and business change.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55648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56816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Best used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14015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High-use, regulated or frequently changing learning portfolios.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Professional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Choose this method when its learning purpose, audience and runtime behaviour fit the brief.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078224"/>
            <a:ext cx="5294376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489204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Quality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36592"/>
            <a:ext cx="4892040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lifecycle register identifies current version, review trigger, decision and preserved evidence.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KEY CONTROLS · FAILURE MODE ·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61920"/>
                </a:solidFill>
                <a:latin typeface="Arial"/>
              </a:rPr>
              <a:t>Maintenance, Analytics and Lifecycle · control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Articulate Storyline 360 User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456432" cy="10972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34E6F"/>
                </a:solidFill>
                <a:latin typeface="Arial"/>
              </a:rPr>
              <a:t>CONTROL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Owner; version; review date; analytics; feedback; defect priority; source change; retirement; archive.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3456432" cy="10972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A580C"/>
                </a:solidFill>
                <a:latin typeface="Arial"/>
              </a:rPr>
              <a:t>WATCH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No owner, links that outlive the source, silent changes or metrics collected without a decision purpose.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28800"/>
            <a:ext cx="3456432" cy="324612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828800"/>
            <a:ext cx="3456432" cy="10972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48840"/>
            <a:ext cx="2944368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8A72"/>
                </a:solidFill>
                <a:latin typeface="Arial"/>
              </a:rPr>
              <a:t>QUALITY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97480"/>
            <a:ext cx="2944368" cy="1965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920"/>
                </a:solidFill>
                <a:latin typeface="Arial"/>
              </a:rPr>
              <a:t>The lifecycle register identifies current version, review trigger, decision and preserved evidence.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771632" cy="658368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28700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Decision rule · preserve a baseline, test every path, then verify the published experience in its delivery environment.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HANDS-ON APPLICATION · TOPIC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Lab 09 · Add a Summary, Review and Publish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749039" cy="4462272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e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232850"/>
            <a:ext cx="3602736" cy="20265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892040"/>
            <a:ext cx="3246120" cy="10241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B6372"/>
                </a:solidFill>
                <a:latin typeface="Arial"/>
              </a:rPr>
              <a:t>Creative Minds is preparing the camping course for stakeholder review and a controlled LMS release.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83080"/>
            <a:ext cx="653796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61920"/>
                </a:solidFill>
                <a:latin typeface="Arial"/>
              </a:rPr>
              <a:t>Create a useful summary slide, define review criteria and configure a publish plan aligned with channel, tracking and delivery frequency.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2816352"/>
            <a:ext cx="402336" cy="402336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2816352"/>
            <a:ext cx="402336" cy="402336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Choose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70648" y="2816352"/>
            <a:ext cx="402336" cy="402336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Apply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96528" y="2816352"/>
            <a:ext cx="402336" cy="402336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6528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Inspect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670048"/>
            <a:ext cx="1207007" cy="148132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22407" y="2816352"/>
            <a:ext cx="402336" cy="402336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7" y="2898648"/>
            <a:ext cx="402336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429000"/>
            <a:ext cx="1024127" cy="4389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>
                <a:solidFill>
                  <a:srgbClr val="161920"/>
                </a:solidFill>
                <a:latin typeface="Arial"/>
              </a:rPr>
              <a:t>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4443984"/>
            <a:ext cx="6510528" cy="1216152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636008"/>
            <a:ext cx="13258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572000"/>
            <a:ext cx="482803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Arial"/>
              </a:rPr>
              <a:t>Retain the completed .story file, summary screenshot, QA matrix, Review 360 plan and distribution/frequency decision record.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833872"/>
            <a:ext cx="63093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920"/>
                </a:solidFill>
                <a:latin typeface="Arial"/>
              </a:rPr>
              <a:t>Full click-by-click procedure · Learner Guide / Lab 09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8A72"/>
                </a:solidFill>
                <a:latin typeface="Arial"/>
              </a:rPr>
              <a:t>EXPLAIN THE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Topic 4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must the learner understand or do?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Audience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preference or constraint shaped the design?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Mechanism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Storyline object or logic implements it?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Failure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would make the experience unusable or misleading?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Proof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Which preview, publish or accessibility test demonstrates quality?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Next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What evidence would justify the next revision?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COURSE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Professional Authoring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Clarify objective, audience, channel and constraints.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Storyboard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Map screens, media, interaction, accessibility and evidence.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reusable layouts, named objects and explicit logic.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Exercise paths, states, variables, captions, focus and resume.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Record stakeholder comments and dispositions.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Deliver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Publish, verify, schedule and retain the .story source.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CONTENT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Copyright and Asset Permission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73952"/>
            <a:ext cx="40233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5B6372"/>
                </a:solidFill>
                <a:latin typeface="Arial"/>
              </a:rPr>
              <a:t>IPOS copyright resources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Ownership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Identify the creator or owner.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Permission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Public visibility does not grant reuse.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Check modification, commercial and redistribution rights.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People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Confirm consent and privacy context.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Attribution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Credit as the licence requires.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Retain source, licence, consent, date and permitted use.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PROVENANCE AND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Responsible 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only material you may provide.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Record prompt, source permissions and selected variation.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Check plausibility, bias, accidental text and artefacts.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Terms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Confirm current feature and service terms.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Provenance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Retain generation and edit evidence.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Responsibility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The author owns the publication decision.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A7 · EXECUTION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Stakeholder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Describe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State purpose, audience and key decisions.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Show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Review 360 or approved evidence against the storyboard.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Review against explicit content, interaction and accessibility criteria.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Capture owner, comment and due date.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Decide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Accept, adapt or reject with reason.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Revise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Publish one traceable corrected version.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34E6F"/>
                </a:solidFill>
                <a:latin typeface="Arial"/>
              </a:rPr>
              <a:t>AFTER THE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2121408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Email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21214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Telephone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+65 6100 0613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21214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Portal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https://lms-tms.tertiaryinfotech.com/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078224"/>
            <a:ext cx="73152" cy="2121408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E22CE"/>
                </a:solidFill>
                <a:latin typeface="Arial"/>
              </a:rPr>
              <a:t>Provider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Tertiary Infotech Academy Pte Ltd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9496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9496" y="4078224"/>
            <a:ext cx="73152" cy="2121408"/>
          </a:xfrm>
          <a:prstGeom prst="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8952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8A72"/>
                </a:solidFill>
                <a:latin typeface="Arial"/>
              </a:rPr>
              <a:t>Website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www.tertiarycourses.com.sg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3192" y="4078224"/>
            <a:ext cx="3462528" cy="2121408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13192" y="4078224"/>
            <a:ext cx="73152" cy="21214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2648" y="4279392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rial"/>
              </a:rPr>
              <a:t>Privacy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2648" y="4736592"/>
            <a:ext cx="3060192" cy="1280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Do not send assessment content publicly.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92828"/>
                </a:solidFill>
                <a:latin typeface="Arial"/>
              </a:rPr>
              <a:t>WA + 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Final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0392" y="2039112"/>
            <a:ext cx="548640" cy="548640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Briefing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4017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048609" y="2039112"/>
            <a:ext cx="548640" cy="54864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8609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8609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WA · 60 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82235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46827" y="2039112"/>
            <a:ext cx="548640" cy="54864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46827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6827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Transition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0452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45044" y="2039112"/>
            <a:ext cx="548640" cy="548640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5044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5044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PP · 60 min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78670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43262" y="2039112"/>
            <a:ext cx="548640" cy="548640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43262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3262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Submit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617720"/>
            <a:ext cx="10789920" cy="1133856"/>
          </a:xfrm>
          <a:prstGeom prst="roundRect">
            <a:avLst/>
          </a:prstGeom>
          <a:solidFill>
            <a:srgbClr val="C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846320"/>
            <a:ext cx="15087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OUTCOME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773168"/>
            <a:ext cx="8915400" cy="6217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Complete your own open-book evidence and upload the provided documents through LMS-TMS when instructed.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580C"/>
                </a:solidFill>
                <a:latin typeface="Arial"/>
              </a:rPr>
              <a:t>COMPETENCY SIGN-OFF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0392" y="2039112"/>
            <a:ext cx="548640" cy="548640"/>
          </a:xfrm>
          <a:prstGeom prst="round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Identity check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4017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048609" y="2039112"/>
            <a:ext cx="548640" cy="54864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8609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8609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WA · K1–K6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82235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46827" y="2039112"/>
            <a:ext cx="548640" cy="54864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46827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6827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PP · A1–A7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0452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45044" y="2039112"/>
            <a:ext cx="548640" cy="548640"/>
          </a:xfrm>
          <a:prstGeom prst="round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5044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5044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Assessor decision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78670" y="1874519"/>
            <a:ext cx="1997049" cy="2286000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43262" y="2039112"/>
            <a:ext cx="548640" cy="548640"/>
          </a:xfrm>
          <a:prstGeom prst="roundRect">
            <a:avLst/>
          </a:prstGeom>
          <a:solidFill>
            <a:srgbClr val="0F8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43262" y="2167127"/>
            <a:ext cx="5486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3262" y="2752344"/>
            <a:ext cx="1667865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>
                <a:solidFill>
                  <a:srgbClr val="161920"/>
                </a:solidFill>
                <a:latin typeface="Arial"/>
              </a:rPr>
              <a:t>Summary sign-off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617720"/>
            <a:ext cx="10789920" cy="1133856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846320"/>
            <a:ext cx="15087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OUTCOME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773168"/>
            <a:ext cx="8915400" cy="6217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Assessment evidence leads to a Competent or Not Yet Competent decision, feedback, reassessment/appeal options and formal sign-off.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49961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1078992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891B2"/>
                </a:solidFill>
                <a:latin typeface="Arial"/>
              </a:rPr>
              <a:t>CLOSING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835640" cy="685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1920"/>
                </a:solidFill>
                <a:latin typeface="Arial"/>
              </a:rPr>
              <a:t>Digital Attendance · Mandatory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10881360" cy="18288"/>
          </a:xfrm>
          <a:prstGeom prst="rect">
            <a:avLst/>
          </a:prstGeom>
          <a:solidFill>
            <a:srgbClr val="DA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462528" cy="4443984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55648"/>
            <a:ext cx="73152" cy="4443984"/>
          </a:xfrm>
          <a:prstGeom prst="rect">
            <a:avLst/>
          </a:prstGeom>
          <a:solidFill>
            <a:srgbClr val="134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34E6F"/>
                </a:solidFill>
                <a:latin typeface="Arial"/>
              </a:rPr>
              <a:t>Assessment event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414015"/>
            <a:ext cx="3060192" cy="3602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Complete the official assessment attendance.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9496" y="1755648"/>
            <a:ext cx="3462528" cy="4443984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9496" y="1755648"/>
            <a:ext cx="73152" cy="444398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952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952" y="2414015"/>
            <a:ext cx="3060192" cy="3602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Remain until the trainer verifies the record.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3192" y="1755648"/>
            <a:ext cx="3462528" cy="4443984"/>
          </a:xfrm>
          <a:prstGeom prst="roundRect">
            <a:avLst/>
          </a:prstGeom>
          <a:solidFill>
            <a:srgbClr val="F3F8FA"/>
          </a:solidFill>
          <a:ln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3192" y="1755648"/>
            <a:ext cx="73152" cy="444398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956816"/>
            <a:ext cx="306019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Feedback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414015"/>
            <a:ext cx="3060192" cy="360273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the official LMS-TMS/TRAQOM route after attendance.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1005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46120"/>
            <a:ext cx="9418320" cy="5943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0891B2"/>
                </a:solidFill>
                <a:latin typeface="Arial"/>
              </a:rPr>
              <a:t>Design with intent · build accessibly · verify every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7498079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Mastering Articulate Storyline 360 for e-Learning Content Creation  ·  TGS-2024042308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D7DEE9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
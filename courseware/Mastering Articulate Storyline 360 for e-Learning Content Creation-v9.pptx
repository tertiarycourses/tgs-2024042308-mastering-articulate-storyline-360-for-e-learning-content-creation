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effort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Story map</c:v>
                </c:pt>
                <c:pt idx="1">
                  <c:v>Screen design</c:v>
                </c:pt>
                <c:pt idx="2">
                  <c:v>Media</c:v>
                </c:pt>
                <c:pt idx="3">
                  <c:v>Interaction</c:v>
                </c:pt>
                <c:pt idx="4">
                  <c:v>Review + QA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20</c:v>
                </c:pt>
                <c:pt idx="2">
                  <c:v>20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Text + visuals</c:v>
                </c:pt>
                <c:pt idx="1">
                  <c:v>Narrated demo</c:v>
                </c:pt>
                <c:pt idx="2">
                  <c:v>Interactive scenario</c:v>
                </c:pt>
                <c:pt idx="3">
                  <c:v>Quiz + feedback</c:v>
                </c:pt>
                <c:pt idx="4">
                  <c:v>Reference support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Linear reveal</c:v>
                </c:pt>
                <c:pt idx="1">
                  <c:v>Layered explore</c:v>
                </c:pt>
                <c:pt idx="2">
                  <c:v>Variable gate</c:v>
                </c:pt>
                <c:pt idx="3">
                  <c:v>Branching scenario</c:v>
                </c:pt>
                <c:pt idx="4">
                  <c:v>Quiz + resume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10</c:v>
                </c:pt>
                <c:pt idx="3">
                  <c:v>16</c:v>
                </c:pt>
                <c:pt idx="4">
                  <c:v>20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Interactivity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Review 360</c:v>
                </c:pt>
                <c:pt idx="1">
                  <c:v>Web</c:v>
                </c:pt>
                <c:pt idx="2">
                  <c:v>Video</c:v>
                </c:pt>
                <c:pt idx="3">
                  <c:v>LMS/LRS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Review 360</c:v>
                </c:pt>
                <c:pt idx="1">
                  <c:v>Web</c:v>
                </c:pt>
                <c:pt idx="2">
                  <c:v>Video</c:v>
                </c:pt>
                <c:pt idx="3">
                  <c:v>LMS/LRS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Review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Review 360</c:v>
                </c:pt>
                <c:pt idx="1">
                  <c:v>Web</c:v>
                </c:pt>
                <c:pt idx="2">
                  <c:v>Video</c:v>
                </c:pt>
                <c:pt idx="3">
                  <c:v>LMS/LRS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9.png"/>
          <p:cNvPicPr>
            <a:picLocks noChangeAspect="1"/>
          </p:cNvPicPr>
          <p:nvPr/>
        </p:nvPicPr>
        <p:blipFill>
          <a:blip r:embed="rId2"/>
          <a:srcRect l="20434" r="20434"/>
          <a:stretch>
            <a:fillRect/>
          </a:stretch>
        </p:blipFill>
        <p:spPr>
          <a:xfrm>
            <a:off x="4983480" y="0"/>
            <a:ext cx="72054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63440" y="0"/>
            <a:ext cx="10972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0292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63240" y="530352"/>
            <a:ext cx="1325880" cy="621792"/>
          </a:xfrm>
          <a:prstGeom prst="round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649224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0891B2"/>
                </a:solidFill>
                <a:latin typeface="Arial"/>
              </a:rPr>
              <a:t>STORY ·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420624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COURSE SLIDES ·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4434840" cy="2103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61920"/>
                </a:solidFill>
                <a:latin typeface="Arial"/>
              </a:rPr>
              <a:t>Mastering Articulate Storyline 360 for e-Learning Content Creation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87952"/>
            <a:ext cx="1234440" cy="7315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507992"/>
            <a:ext cx="43434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Course code  </a:t>
            </a:r>
            <a:r>
              <a:rPr sz="1250">
                <a:solidFill>
                  <a:srgbClr val="5B6372"/>
                </a:solidFill>
                <a:latin typeface="Arial"/>
              </a:rPr>
              <a:t>TGS-2024042308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TSC  </a:t>
            </a:r>
            <a:r>
              <a:rPr sz="1250">
                <a:solidFill>
                  <a:srgbClr val="5B6372"/>
                </a:solidFill>
                <a:latin typeface="Arial"/>
              </a:rPr>
              <a:t>Content Strategy · ICT-SNM-4004-1.1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Provider  </a:t>
            </a:r>
            <a:r>
              <a:rPr sz="1250">
                <a:solidFill>
                  <a:srgbClr val="5B6372"/>
                </a:solidFill>
                <a:latin typeface="Arial"/>
              </a:rPr>
              <a:t>Tertiary Infotech Academy Pte Ltd · UEN: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42976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Version v9 · 21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6473952"/>
            <a:ext cx="60350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© 2026 Tertiary Infotech Academy Pte Ltd · TGS-2024042308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MANDATORY WSQ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trainer-displayed electronic attendance for every required session.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your authorised identity.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Remain until the trainer confirms the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FACILITATOR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General Trainer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55648"/>
            <a:ext cx="2880360" cy="43434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2148840"/>
            <a:ext cx="1600200" cy="160020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42032"/>
            <a:ext cx="160020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TRAINER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2423160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Insert approved profile photo and professional designation before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783080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011680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34E6F"/>
                </a:solidFill>
                <a:latin typeface="Arial"/>
              </a:rPr>
              <a:t>Industry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96312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Relevant e-learning, Storyline and content-strategy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59" y="1783080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59" y="2011680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Training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496312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Adult-learning and facilitation credentials.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813048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041648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Course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526280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Examples aligned to learner roles, devices and delivery channels.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59" y="3813048"/>
            <a:ext cx="3456432" cy="17830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59" y="4041648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E22CE"/>
                </a:solidFill>
                <a:latin typeface="Arial"/>
              </a:rPr>
              <a:t>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59" y="4526280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Approved professional contact route.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Digital transformation, courseware, e-learning systems and adult learning.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Facilitation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Concept explanation, coached Storyline practice and evidence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Traceable storyboards, accessible interactions and verified publishing.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Learning 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Explain the reason behind every authoring decision.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 · +65 6100 0613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OPENING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Your E-Learning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learning or content do you create or manage?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Who must act differently after the experience?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LMS, web, Review 360, video or facilitated delivery?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Friction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does current authoring or review lose time?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feature is already familiar?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artifact will prove improvement?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Working Agreements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Participate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Try the tools and explain choices.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Respect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Critique the work, not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Protect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permitted media and retain rights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Save 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Preserve BEGIN/END files and name working copies.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Share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Protect learner data and assessment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preview and published output before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LMS-TMS · LEARNER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6070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37360"/>
            <a:ext cx="10607040" cy="50292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1901952"/>
            <a:ext cx="109728" cy="109728"/>
          </a:xfrm>
          <a:prstGeom prst="round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016" y="1901952"/>
            <a:ext cx="109728" cy="1097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17904" y="1901952"/>
            <a:ext cx="109728" cy="10972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1847088"/>
            <a:ext cx="7955279" cy="256032"/>
          </a:xfrm>
          <a:prstGeom prst="roundRect">
            <a:avLst/>
          </a:prstGeom>
          <a:solidFill>
            <a:srgbClr val="32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892807"/>
            <a:ext cx="7635240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78608"/>
            <a:ext cx="89611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920"/>
                </a:solidFill>
                <a:latin typeface="Arial"/>
              </a:rPr>
              <a:t>Mastering Articulate Storyline 360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63240"/>
            <a:ext cx="47548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Courseware · v9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54480" y="3986784"/>
            <a:ext cx="749808" cy="56692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39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Trainer deck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0672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47872" y="3986784"/>
            <a:ext cx="749808" cy="56692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832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Learner slides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41264" y="3986784"/>
            <a:ext cx="749808" cy="56692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1264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Detailed 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77456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34656" y="3986784"/>
            <a:ext cx="749808" cy="56692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Delivery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70848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28048" y="3986784"/>
            <a:ext cx="749808" cy="56692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Storyline labs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532120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Outcome · the complete package is available in one authenticated course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COURSE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Four-Day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Storyboard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Curate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Interact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Distribute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The course moves from content intent to accessible Storyline construction, reliable interaction and governed delivery.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CONTENT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TSC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Content Strategy · ICT-SNM-4004-1.1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TGS-2024042308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4 days · 32 hours, including 2 hours of assessment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K1–K6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A1–A7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WA 60 min · PP 60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K1–K6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Knowledge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K1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Principles of digital storytelling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Potential customers' evolving preferences for content types, styles and modes of 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K3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Process of developing a digital storyboard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K4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Parameters for delivering content for marketing purposes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K5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Features of marketing content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K6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Modes of content delivery for marketing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A1–A7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Ability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960120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865376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34E6F"/>
                </a:solidFill>
                <a:latin typeface="Arial"/>
              </a:rPr>
              <a:t>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176272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Conceptualise content ideas to meet marketing 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960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65376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891B2"/>
                </a:solidFill>
                <a:latin typeface="Arial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76272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Map out digital storyboards as part of a content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16936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16936"/>
            <a:ext cx="73152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026664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A580C"/>
                </a:solidFill>
                <a:latin typeface="Arial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337560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Identify content requirements from customer and potential-customer preferences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2916936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2916936"/>
            <a:ext cx="73152" cy="96012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26664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7E22CE"/>
                </a:solidFill>
                <a:latin typeface="Arial"/>
              </a:rPr>
              <a:t>A4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Determine the frequency of delivering marketing content to customers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78224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078224"/>
            <a:ext cx="73152" cy="960120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2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8A72"/>
                </a:solidFill>
                <a:latin typeface="Arial"/>
              </a:rPr>
              <a:t>A5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98848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Determine the types and styles of content to deliver to customers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078224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078224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87952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A6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98848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Determine modes and processes for distributing content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39512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239512"/>
            <a:ext cx="73152" cy="960120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" y="5349240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34E6F"/>
                </a:solidFill>
                <a:latin typeface="Arial"/>
              </a:rPr>
              <a:t>A7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660136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Develop guidelines for content-strategy execution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Conceptualise and map digital storyboards integrating principles of storytelling in Storyline 360.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LO2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Identify and determine diverse e-learning content aligned with audience preferences, industry trends and content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LO3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Determine effective modes and processes for distributing interactive e-learning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LO4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Develop guidelines and determine content delivery frequency for effective e-learning delivery.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FOUR CONNECTED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Get Started on Articulate Storyline 360
Story purpose · storyboard · project model · interface · scenes · slides · layers · quizzes · media libraries
LO1 · A1 · A2 · K1 · K3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Topic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Working with Assets
Pictures · 360° media · video · audio · captions · accessibility · web content · screen recordings · text and layout
LO2 · A3 · A5 · K2 · K5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Topic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Interactivity
Zoom regions · interactive objects · triggers · states · variables · timeline · branching · feedback · motion
LO3 · A6 · K6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Topic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Presentation, Review and Distribution
Themes · masters · player · accessibility · Review 360 · preview · LMS/LRS publishing · scheduling · governance
LO4 · A4 · A7 · K4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SUMMATIVE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WA · K1–K6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A1–A2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A3–A5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A4 + A7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Six written questions and four practical tasks; each instrument is 60 minutes and open book.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Individual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your own work with no discussion.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materials approved by the assessor.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Phones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Place phones and other unapproved materials under the 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WA 60 min · PP 60 min.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provided document and upload through LMS-TMS.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Competent or Not Yet Competent, with reassessment and appeal rights.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AUTHORING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Tools, Materials and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supported Windows laptop, suitable display, mouse and reliable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Current supported Articulate Storyline 360 desktop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Local working folder with short paths and separate backup.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Rights-cleared pictures, audio, video, scripts and brand materials.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Output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Audience, device, channel, tracking, accessibility and update requirements.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Versioned .story files, protected assessment content and verified publishes.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TOOL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Storyline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Industry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Interactive e-learning, simulations, quizzes, scenarios and tracked packages.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Windows authoring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Storyline desktop authoring requires a supported Windows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Interface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Labels may move as releases evolve; authoring principles remain stable.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Decision over clicks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features by purpose, audience, accessibility and delivery.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Responsible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outputs and retain provenance and permission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Trademark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Articulate and Storyline are Articulate trademarks; this course is provider-developed.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Get Started on Articulate Storyline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Story purpose · storyboard · project model · interface · scenes · slides · layers · quizzes · media 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LO1 · A1 · A2 · K1 · K3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STORYBOARD-PLANNING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Where Authoring Effort Accumulates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planning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planning split: interactivity is only one workload. Story architecture, media readiness and review evidence must be planned before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01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Storytelling as a Learning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digital story combines a purposeful narrative, evidence, media and learner agency so attention leads to a decision or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Onboarding, compliance, product education and scenario-based learning where context matters.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narrative can be traced from business objective to learner action and measurable outcome.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Digital Storytelling as a Learning System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Audience; objective; protagonist; tension; choice; consequence; evidence; reflection.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Decorative stories with no decision, irrelevant emotion or a message that conflicts with the learning objective.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narrative can be traced from business objective to learner action and measurable outcome.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02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storyboard makes the course visible before production by mapping screens, narration, media, interactions, transitions, branching and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Stakeholder alignment, estimating effort, accessibility planning and preventing expensive rework.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screen has a purpose, every branch reconnects or terminates deliberately, and every asset has an owner.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Architecture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Screen ID; purpose; on-screen copy; narration; asset; interaction; branch; accessibility; owner;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Treating the storyboard as a static script or failing to show conditional paths and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Every screen has a purpose, every branch reconnects or terminates deliberately, and every asset has an owner.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03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Audience, Objective and Content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content promise states what the learner will be able to decide or do and why the experience is worth completing.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Selecting scope, tone, examples and interaction depth for a defined audience.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opening, activities and assessment all support the same learner promise.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Audience, Objective and Content Promise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Role; prior knowledge; device; context; time; motivation; risk; desired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Beginning with software features instead of learner need, or promising outcomes the content cannot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opening, activities and assessment all support the same learner promise.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04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Project Model and File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.story file packages scenes, slides, layers, media, triggers, variables, player settings and project metadata.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Versioned authoring, team handoff, recovery and evidence retention.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source opens locally, the version is identifiable and a separate backup exists.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Project Model and File Discipline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Local working drive; short path; version name; backup; media links; publish folder; archive.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Authoring directly on a network/removable drive, overwriting the only copy or confusing published output with the 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source opens locally, the version is identifiable and a separate backup exists.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05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 View, Slide View and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810591"/>
            <a:ext cx="4681728" cy="233409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Story View reveals course flow; Slide View reveals one screen's objects, layers, timeline, states, triggers and properties.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Choosing the right view for architecture versus detailed construction.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reviewer can identify scene boundaries, navigation paths and the objects controlling the selected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Story View, Slide View and Interface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Ribbon; scenes; slide canvas; timeline; states; notes; layers; triggers; properties; zoom.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Editing details without checking navigation or interpreting Story View connectors as decorative 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reviewer can identify scene boundaries, navigation paths and the objects controlling the selected slide.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06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Scenes, Slides and Navigation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Scenes group related slides while triggers determine actual navigation, including non-linear branches.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Modules, alternate pathways, remediation and reusable course sections.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proves every intended route, back path and terminal state.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Scenes, Slides and Navigation Order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Scene start; slide order; next/previous triggers; jump target; branching; revisit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Assuming visual order equals runtime order or creating branches with no return/exit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Preview proves every intended route, back path and terminal state.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07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Slides, Layers and Revisit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base slide can reveal layers without leaving the slide; layer properties decide visibility, timeline and revisit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Progressive disclosure, modal explanations, feedback and controlled exploration.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Layer open/close, focus, timeline and revisit behaviour match the storyboard.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Slides, Layers and Revisit Behaviour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Hide other layers; hide base objects; prevent clicking; pause base; reset/resume/automatic revisit.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Unexpected reset, hidden content exposed to assistive technology or click-through behind a modal layer.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Layer open/close, focus, timeline and revisit behaviour match the storyboard.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08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Question Slides and Form/Slide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Form View defines question data and scoring; Slide View controls the visual and interactive presentation.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Building graded and survey questions while preserving design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shows correct scoring, feedback and navigation for correct, incorrect and incomplete responses.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Slides and Form/Slide Views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Question type; prompt; choices; correct response; shuffle; attempts; required; score; feedback; branch.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Designing before the scoring model is stable or using a question type that excludes keyboard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Preview shows correct scoring, feedback and navigation for correct, incorrect and incomplete responses.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09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Result Slides and Completion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1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699463"/>
            <a:ext cx="4681728" cy="255635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result slide aggregates selected questions or other result slides and can drive completion, pass/fail and retry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Quizzes, assessments, knowledge checks and LMS reporting.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Test attempts prove pass, fail, retry and resume outcomes; reported score matches the visible result.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Result Slides and Completion Logic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Tracked questions; passing score; timer; attempts; submit all; retry; review; completion trigger.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result slide that tracks the wrong questions or reports completion before required interaction.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Test attempts prove pass, fail, retry and resume outcomes; reported score matches the visible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10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Question Banks, Media Library and Content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2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865838"/>
            <a:ext cx="4681728" cy="222360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Question banks randomise reusable questions; Media Library centralises project assets; Content Library supplies reusable templates and media.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Scaling consistent courses, controlled variation and efficient asset updates.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Each draw covers the intended criteria and asset replacement updates all expected instances.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Banks, Media Library and Content Library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Bank draw; random count; reuse; replace asset; accessibility metadata; template consistency.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Random draws that miss required coverage or replacing media without checking crops, captions and rights.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Each draw covers the intended criteria and asset replacement updates all expected instances.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01 · Replace Visuals and Establish a Theme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Creative Minds is adapting a camping orientation template for a new learning campaign and needs a consistent visual identity without rebuilding the course.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Replace supplied media and harmonise the project theme while preserving scene structure and navigation.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working .story file plus screenshots of Story View, one edited slide and the theme settings.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02 · Populate the Storyboard with Course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same camping course now needs meaningful module descriptions and supporting imagery before stakeholder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Turn a skeletal template into a storyboard-aligned three-slide course overview using reusable project assets.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a three-screen storyboard table and accessibility/focus-order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1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Working with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Pictures · 360° media · video · audio · captions · accessibility · web content · screen recordings · text and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LO2 · A3 · A5 · K2 · K5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CONTENT-PLANNING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Media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design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 mixed design serves different learning needs. Every audio/video element still needs captions, an accessible path and a reason to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11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Requirements from Audience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Content type, length, style, interaction and channel are selected from audience evidence rather than author preference.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Microlearning, mobile use, multilingual audiences and role-specific performance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requirements matrix links each preference to a design and delivery response.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Content Requirements from Audience Preferences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Persona; device; bandwidth; accessibility; context; frequency; tone; data sensitivity.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Equating novelty with relevance or using a single format for every audience.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requirements matrix links each preference to a design and delivery response.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12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Pictures and Visual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Pictures carry meaning when crop, contrast, focal point and proximity support the message.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Context-setting, demonstrations, comparison and emotional framing.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focal point survives projection and mobile viewing, and the image has appropriate alternative text.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Pictures and Visual Hierarchy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Crop; size; position; transparency; recolour; alt text; compression; replace picture.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Low-resolution sources, decorative clutter, stretched images or text placed over busy detail.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focal point survives projection and mobile viewing, and the image has appropriate alternative 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13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360° Images, Markers and Hotspots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3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529073"/>
            <a:ext cx="4681728" cy="8971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360° image creates an explorable environment; markers present information and hotspots define interactive regions.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Virtual tours, safety inspections, product familiarisation and spatial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Keyboard and pointer tests reach every required target and the learner knows when exploration is complete.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360° Images, Markers and Hotspots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Initial view; marker; hotspot; label; media; navigation; accessibility; completion rule.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Hidden required targets, motion discomfort, inaccessible hotspots or no cue that the scene is interactive.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Keyboard and pointer tests reach every required target and the learner knows when exploration is complete.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14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Video as Demonstration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Video shows change over time but requires deliberate pacing, controls, compression and an accessible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Procedural demonstrations, expert messages and behaviour modelling.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Playback works in the publish target and captions/transcript convey equivalent information.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Video as Demonstration Evidence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Insert/website video; trim; poster frame; playback; controls; captions; transcript;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Autoplay with sound, unreadable screen detail, missing captions or interaction placed over video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Playback works in the publish target and captions/transcript convey equivalent information.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15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Audio, Narration and Closed Captions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Narration can guide attention while captions expose speech and meaningful sound to learners who cannot hear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Story-led modules, demonstrations and multilingual or noisy environments.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Audio is intelligible, synchronised and optional; captions are accurate and available in the player.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Audio, Narration and Closed Captions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Record/import; waveform; trim; fade; volume; VTT captions; caption button; transcript.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Narration duplicating every on-screen word, inconsistent levels, timing drift or captions covering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Audio is intelligible, synchronised and optional; captions are accurate and available in the player.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16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Accessibility: Focus, Names and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005" y="1828800"/>
            <a:ext cx="4432262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The accessibility tree, focus order, object names and alternative text determine what keyboard and screen-reader users encounter.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Every production course, especially custom navigation and layered interactions.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Keyboard-only and screen-reader walkthroughs preserve meaning, order and operability.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Accessibility: Focus, Names and Alternatives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Focus order; visible to accessibility tools; alt text; object name; tab sequence; focus indicator;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Decorative objects announced, duplicate labels, illogical focus or interactions that depend only on hover/drag.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Keyboard-only and screen-reader walkthroughs preserve meaning, order and operability.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17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Web Objects and External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web object embeds or launches web content while the course remains responsible for context, security and fallback.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Live reference tools, maps, simulations or approved external services.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Published tests confirm access, fallback, privacy expectations and keyboard exit from the object.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Web Objects and External Content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URL/local web folder; load automatically/on click; display in slide/new window; fallback link; focus.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Third-party tracking, mixed content, offline failure, broken focus or assuming embedded content is accessible.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Published tests confirm access, fallback, privacy expectations and keyboard exit from the object.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18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Screen Recording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recording can be inserted as a video or as step-by-step View, Try and Test slides.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Software demonstrations, coached simulations and performance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learner can see the target action and the simulation accepts the intended interaction.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Screen Recording Modes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Recording area; microphone; screen size; video/View/Try/Test; action captions; mouse path; edits.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Recording personal data, tiny UI, changing software versions or generating unreliable automatic steps.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learner can see the target action and the simulation accepts the intended interaction.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19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Shapes, Captions, Text Boxes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Native objects create editable structure, hierarchy and interactive targets without baking information into an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Callouts, process graphics, labels, layouts and accessible data presentation.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Objects remain editable, readable and logically ordered at the delivery size.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Shapes, Captions, Text Boxes and Tables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Fill; line; radius; text style; margins; alignment; table headers; accessibility;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Small targets, low contrast, inconsistent typography or using a table only to position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Objects remain editable, readable and logically ordered at the delivery size.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20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Formatting, Sizing and Positioning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Consistent alignment, spacing, size and theme choices reduce cognitive load and make interaction predictable.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Templates, reusable components and multi-author projects.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Shared edges and spacing are consistent; no object clips at common player sizes.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Formatting, Sizing and Positioning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Align; distribute; size; position; rotation; guides; theme fonts/colours; format painter.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Pixel-level drift, stretched media, accidental off-slide objects or inconsistent states.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Shared edges and spacing are consistent; no object clips at common player sizes.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03 · Curate and Replace Audience-Fit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Stakeholder feedback says the first visual set does not fit new campers in a contemporary learning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Evaluate customer preferences, select a suitable visual style and replace project assets consistently.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audience requirements matrix, asset/source register and before/after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Lab 04 · Create and Govern an AI-Assisted Visual Variation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Creative Minds wants to test a western-poster visual direction without losing the approved baseline or provenance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an AI-assisted visual variation, evaluate it against the brief and retain transparent provenance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prompt/provenance record, evaluation checklist and before/after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05 · Add Narration and Closed Captions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course needs optional narration for guidance and accurate captions for learners in noisy or hearing-limited contexts.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Add and synchronise narration, captions and accessible playback controls without duplicating unnecessary on-screen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caption-timing screenshot, waveform/timeline screenshot and accessibility test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Lab 06 · Build a Multi-Slide Audio and Caption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three-slide course needs consistent narration, caption files and learner control across the whole scene.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Implement multiple audio/caption tracks consistently and validate timing, focus and playback behaviour across slides.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media map, scene-wide audio/caption test matrix and representative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2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Interactivity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Zoom regions · interactive objects · triggers · states · variables · timeline · branching · feedback ·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LO3 · A6 · K6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QA-PLANNING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Interaction Complexity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QA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E22CE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test-case counts grow faster than the number of visible screens. Map trigger order, revisit, retry and accessibility before adding 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21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Zoom Regions and Guided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6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01113"/>
            <a:ext cx="4681728" cy="395305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zoom region enlarges a defined area during the slide timeline to direct attention.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Screen detail, maps and still-image close-ups where context can be restored.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zoom begins when the explanation needs it and returns without hiding required context.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Zoom Regions and Guided Attention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Region bounds; position; timeline start/end; speed; layer limitation; return to normal.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Motion without purpose, unreadable destination detail or excessive zoom causing disorientation.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zoom begins when the explanation needs it and returns without hiding required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22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Buttons, Markers, Hotspots and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Interactive objects expose actions through clear affordances, states, labels and trigger responses.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Exploration, reveal interactions, custom navigation and decision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Pointer, keyboard and screen-reader users can identify, operate and understand every control.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Buttons, Markers, Hotspots and Controls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Target size; normal/hover/selected/visited/disabled; alt text; trigger; focus order;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Invisible hotspots, tiny targets, colour-only state changes or controls that look decorative.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Pointer, keyboard and screen-reader users can identify, operate and understand every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23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Trigger Anatomy and Execution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84375"/>
            <a:ext cx="4681728" cy="398652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trigger performs an action on an object or variable when an event occurs, optionally under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Navigation, layer control, state changes, media control, scoring and custom logic.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Trigger panel order matches the logic diagram and tests prove every condition path.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Trigger Anatomy and Execution Order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Action; target; event; object; condition; order; scope; copied trigger.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Correct triggers in the wrong order, triggers attached to covered objects or ambiguous next-slide targets.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Trigger panel order matches the logic diagram and tests prove every condition path.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24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Object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6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945259"/>
            <a:ext cx="4681728" cy="20647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States store visual versions of one object; built-in states may respond automatically while custom states need explicit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Selection, progress, disabled controls, visited indicators and feedback.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State changes are predictable, perceivable and preserved appropriately on revisit.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Object States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Normal; hover; down; selected; visited; disabled; custom; initial state; edit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Duplicating objects instead of states, hiding critical meaning only in colour or leaving a disabled control focusable.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State changes are predictable, perceivable and preserved appropriately on revisit.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25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Variables and Conditional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46054"/>
            <a:ext cx="4681728" cy="40631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Text, number and true/false variables retain information that triggers can evaluate to personalise or control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Progress gates, scores, names, branching, toggles and completion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test matrix proves default, boundary and reset cases and shows the variable value where needed.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Variables and Conditional Logic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Variable type; default; adjust; reference; condition; operator; scope;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Type mismatch, stale values on retry, multiple variables representing one fact or conditions evaluated too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test matrix proves default, boundary and reset cases and shows the variable value where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26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Timeline, Cue Points and Synchronisation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3151697"/>
            <a:ext cx="4681728" cy="16518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The timeline controls when objects and media appear; cue points provide named anchors for synchronised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Narrated animation, timed reveals and media-coordinated interactions.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Playback remains synchronised after seeking, replay and common device performance variation.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Timeline, Cue Points and Synchronisation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Start/end; show until end; align to playhead; cue point; lock; visibility; waveform.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Objects ending too early, animation drift after audio edits or a locked timeline hiding the cause.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Playback remains synchronised after seeking, replay and common device performance variation.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27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Animations, Motion Paths and Transitions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Animations affect objects, motion paths move them, and transitions affect the change between slides.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Demonstrating sequence, change, direction and continuity.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Motion clarifies one teaching point and the static slide still communicates the complete meaning.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Animations, Motion Paths and Transitions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Entrance/exit/emphasis; duration; delay; direction; path; orient to path; transition.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Decorative motion, competing animations, motion-trigger mismatch or inaccessible information shown too briefly.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Motion clarifies one teaching point and the static slide still communicates the complete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28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Freeform Interactions and Question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Existing objects can become selectable, drag-and-drop, text-entry or hotspot responses with scoring and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Authentic decisions where standard question layouts are too restrictive.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interaction has an accessible equivalent and correct/incorrect outcomes match the rubric.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Freeform Interactions and Question Conversion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Convert to freeform; response objects; drop targets; correct set; attempts; feedback; accessibility.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Beautiful interaction with ambiguous instructions, overlapping targets or keyboard-inaccessible drag behaviour.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interaction has an accessible equivalent and correct/incorrect outcomes match the rubric.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29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Branching Scenarios and Consequences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Branches let learner choices reveal consequences, coaching and alternative routes before reconnecting to a common outcome.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Conversations, safety decisions, customer handling and ethical choices.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route has a defined purpose, duration and outcome; the storyboard accounts for all nodes.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Branching Scenarios and Consequences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Decision node; choice; consequence; feedback; variable; branch map; merge point; retry.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Branches that differ only cosmetically, dead ends, exponential complexity or moralising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Every route has a defined purpose, duration and outcome; the storyboard accounts for all nodes.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30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Interaction QA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Interaction quality is demonstrated with a test matrix covering behaviour, accessibility, content and device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Before stakeholder review, LMS upload and formal assessment.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signed checklist records expected versus actual results and links defects to corrected versions.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Interaction QA and Evidence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Happy path; wrong path; boundary; revisit; retry; keyboard; captions; focus; responsive player; resume.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Testing only the author’s preferred path or relying on preview when the publish target behaves differently.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signed checklist records expected versus actual results and links defects to corrected versions.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07 · Build a Graded Question with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camping module needs a defensible knowledge check on campsite-selection criteria.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Add a graded question with plausible distractors, feedback, scoring and accessible response behaviour.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question specification, trigger/feedback screenshots and a five-case test matrix.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07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Lab 08 · Build a Multi-Question Quiz and Result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course team must expand the check to cover campsite selection and essential equipment while reporting a reliable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 multi-question quiz with single- and multiple-response items, feedback, result logic and retry behaviour.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question-to-criterion map, result settings screenshot and pass/fail/retry test log.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3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Presentation, Review and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Themes · masters · player · accessibility · Review 360 · preview · LMS/LRS publishing · scheduling ·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LO4 · A4 · A7 · K4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CHANNEL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Distribution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publishing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1–5 comparison: choose the channel from interaction, tracking, review and governance requirements—not from export convenience alone.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31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Themes, Slide Masters and Design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Themes define fonts and colours while masters/layouts define reusable structure and inheritance.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Brand consistency, accessible templates and efficient multi-course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New slides inherit approved typography, contrast and geometry without manual repair.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Themes, Slide Masters and Design Governance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Theme fonts; theme colours; master; layout; placeholder; background; inherited object.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Direct formatting everywhere, editing the wrong level or using master objects as essential interaction targets.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New slides inherit approved typography, contrast and geometry without manual repair.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32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Player Features and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8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889138"/>
            <a:ext cx="4681728" cy="217700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The player wraps course content with menu, controls, resources, seekbar, captions and responsive behaviour.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Consistent navigation, learner control and delivery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The player supports the storyboard, accessibility plan and completion rules on desktop and mobile.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Player Features and Navigation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Modern/classic player; menu; previous/next; seekbar; volume; captions; resources; labels; resume.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Player controls conflicting with custom navigation, unrestricted seeking bypassing required content or hidden captions.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player supports the storyboard, accessibility plan and completion rules on desktop and mobile.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33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Player and Focus Styling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8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34915"/>
            <a:ext cx="4681728" cy="208544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Player accessibility settings affect readable text, focus visibility, keyboard navigation and learner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Courses intended for broad public or workforce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Published output passes keyboard, zoom, focus and assistive-technology checks.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Accessible Player and Focus Styling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Accessible text; focus colour; zoom-to-fit; keyboard shortcuts; labels; captions; playback speed.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Low-contrast focus, disabling navigation shortcuts without an equivalent or assuming authoring preview proves accessibility.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Published output passes keyboard, zoom, focus and assistive-technology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34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360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360 publishes a review copy where stakeholders comment against slides and versions.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Structured review, distributed stakeholders and traceable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Comments have owners and dispositions; the approved version maps to the retained .story source.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360 Collaboration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Publish/update item; reviewer link; password; comments; replies; resolve/reopen; 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Using comments as the only requirement record, sharing sensitive content broadly or overwriting an approved version.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Comments have owners and dispositions; the approved version maps to the retained .story source.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35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Preview Strategy and Publish-Only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tests authoring logic quickly, while published output is required for web objects, LMS communication and final runtime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Progressive QA from slide to scene to full course and target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final package is tested in its actual browser/LMS target using the acceptance matrix.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Preview Strategy and Publish-Only Tests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Preview slide/scene/project; replay; device view; publish; browser test; console/LMS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Treating preview as final evidence or testing only one browser and screen size.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final package is tested in its actual browser/LMS target using the acceptance matrix.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36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Publishing Channels and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Storyline can publish to Review 360, web, video, Word, LMS/LRS and supported distribution platforms; each preserves different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Selecting delivery by interactivity, tracking, review, accessibility, connectivity and governance needs.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chosen channel supports the required interaction, tracking and audience access.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Publishing Channels and Trade-offs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Channel; interactivity; tracking; package; hosting; privacy; update process; offline need.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Publishing interactive content as video, hosting LMS output as plain web content or exposing source 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chosen channel supports the required interaction, tracking and audience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37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LMS/LRS Standards and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828800"/>
            <a:ext cx="4297680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SCORM, AICC, xAPI and cmi5 package content and communicate different completion, score and activity data to a delivery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Tracked learning, compliance evidence and analytics across compatible LMS/LRS platforms.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sandbox launch records the intended status, score, completion and resume data.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LMS/LRS Standards and Tracking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Standard/version; completion trigger; result slide; passing score; reporting status; identifier; launch.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Choosing a standard the LMS does not support, changing identifiers carelessly or testing only the launch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sandbox launch records the intended status, score, completion and resume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38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Distribution Plan and Delivery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distribution plan maps audience segments to channels, release timing, reminders, maintenance and measurement.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Campaign learning, product launches, onboarding waves and recurring compliance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plan justifies frequency and records owner, success measure and update rule.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Distribution Plan and Delivery Frequency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Audience; channel; cadence; time zone; dependency; owner; metric; refresh trigger; escalation.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Sending too frequently, ignoring local time/context or publishing updates without change communication.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plan justifies frequency and records owner, success measure and update rule.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39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Strategy Execution Guidelines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Guidelines turn repeated design and publishing decisions into a governed, reviewable operating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Multi-author teams and courses that need consistent quality over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new author can build and publish a compliant module using the guideline and checklist.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Content Strategy Execution Guidelines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Voice; brand; accessibility; interaction patterns; naming; review gates; rights; publishing; archive.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style guide that covers appearance but not behaviour, evidence, ownership or exceptions.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new author can build and publish a compliant module using the guideline and checklist.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40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Maintenance, Analytics and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Published learning is monitored, reviewed and retired using learner evidence, defects, content age and business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High-use, regulated or frequently changing learning portfolios.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lifecycle register identifies current version, review trigger, decision and preserved evidence.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Maintenance, Analytics and Lifecycle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Owner; version; review date; analytics; feedback; defect priority; source change; retirement; archive.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No owner, links that outlive the source, silent changes or metrics collected without a decision purpose.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lifecycle register identifies current version, review trigger, decision and preserved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09 · Add a Summary, Review and Publish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Creative Minds is preparing the camping course for stakeholder review and a controlled LMS release.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 useful summary slide, define review criteria and configure a publish plan aligned with channel, tracking and delivery frequency.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summary screenshot, QA matrix, Review 360 plan and distribution/frequency decision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09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4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Professional Authoring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Clarify objective, audience, channel and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Storyboard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Map screens, media, interaction, accessibility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reusable layouts, named objects and explicit logic.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Exercise paths, states, variables, captions, focus and resume.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stakeholder comments and dispositions.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Deliver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Publish, verify, schedule and retain the .story source.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CONTENT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Copyright and Asset Permission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IPOS copyright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Identify the creator or owner.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Permission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Public visibility does not grant reuse.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modification, commercial and redistribution rights.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 consent and privacy context.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Attribution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Credit as the licence requires.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Retain source, licence, consent, date and permitted use.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PROVENANCE AND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material you may provide.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prompt, source permissions and selected variation.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plausibility, bias, accidental text and artefacts.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 current feature and service terms.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Provenance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Retain generation and edit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Responsibility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author owns the publication decision.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A7 · EXECUTION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Stakeholder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Describe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State purpose, audience and key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Review 360 or approved evidence against the storyboard.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against explicit content, interaction and accessibility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Capture owner, comment and due 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Accept, adapt or reject with reason.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Revise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 one traceable corrected version.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Telephone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Do not send assessment content publicly.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WA +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Briefing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WA · 60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Transition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60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Submit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Complete your own open-book evidence and upload the provided documents through LMS-TMS when instructed.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COMPETENCY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Identity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WA · K1–K6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A1–A7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Assessor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Summary sign-off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Assessment evidence leads to a Competent or Not Yet Competent decision, feedback, reassessment/appeal options and formal sign-off.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CLOSING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Attendance · Mandatory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Assessment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official assessment attendance.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Remain until the trainer verifies the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official LMS-TMS/TRAQOM route after attendance.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005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rial"/>
              </a:rPr>
              <a:t>Design with intent · build accessibly · verify every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
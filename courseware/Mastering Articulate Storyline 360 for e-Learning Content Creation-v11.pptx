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1.png"/>
          <p:cNvPicPr>
            <a:picLocks noChangeAspect="1"/>
          </p:cNvPicPr>
          <p:nvPr/>
        </p:nvPicPr>
        <p:blipFill>
          <a:blip r:embed="rId2"/>
          <a:srcRect l="20434" r="20434"/>
          <a:stretch>
            <a:fillRect/>
          </a:stretch>
        </p:blipFill>
        <p:spPr>
          <a:xfrm>
            <a:off x="4983480" y="0"/>
            <a:ext cx="7205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63440" y="0"/>
            <a:ext cx="1097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63240" y="530352"/>
            <a:ext cx="1325880" cy="621792"/>
          </a:xfrm>
          <a:prstGeom prst="round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64922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891B2"/>
                </a:solidFill>
                <a:latin typeface="Arial"/>
              </a:rPr>
              <a:t>STORY ·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4434840" cy="2103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920"/>
                </a:solidFill>
                <a:latin typeface="Arial"/>
              </a:rPr>
              <a:t>Mastering Articulate Storyline 360 for e-Learning Content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87952"/>
            <a:ext cx="1234440" cy="731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507992"/>
            <a:ext cx="4343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WSQ Course Code  </a:t>
            </a:r>
            <a:r>
              <a:rPr sz="1250">
                <a:solidFill>
                  <a:srgbClr val="5B6372"/>
                </a:solidFill>
                <a:latin typeface="Arial"/>
              </a:rPr>
              <a:t>TGS-2024042308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TSC  </a:t>
            </a:r>
            <a:r>
              <a:rPr sz="1250">
                <a:solidFill>
                  <a:srgbClr val="5B6372"/>
                </a:solidFill>
                <a:latin typeface="Arial"/>
              </a:rPr>
              <a:t>Content Strategy · ICT-SNM-4004-1.1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Provider  </a:t>
            </a:r>
            <a:r>
              <a:rPr sz="1250">
                <a:solidFill>
                  <a:srgbClr val="5B6372"/>
                </a:solidFill>
                <a:latin typeface="Arial"/>
              </a:rPr>
              <a:t>Tertiary Infotech Academy Pte Ltd · UEN: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4297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Version v11 · 17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6437376"/>
            <a:ext cx="66751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Arial"/>
              </a:rPr>
              <a:t>Mastering Articulate Storyline 360 for e-Learning Content Creation · TGS-2024042308 · © 2026 Tertiary Infotech Academy Pte Ltd · 1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MANDATORY WSQ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Attendance and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AM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SSG digital attendance QR shown by the trainer.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PM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SSG digital attendance QR after the afternoon session.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Assessment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separate digital attendance event for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TRAQOM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TRAQOM course-quality survey when instructed; it is separate from attendance.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FACILITATOR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General Trainer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55648"/>
            <a:ext cx="2880360" cy="43434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1600200" cy="160020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42032"/>
            <a:ext cx="160020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TRAINER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Insert approved profile photo and professional designation before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783080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34E6F"/>
                </a:solidFill>
                <a:latin typeface="Arial"/>
              </a:rPr>
              <a:t>Industry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Relevant e-learning, Storyline and content-strategy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59" y="1783080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59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Training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Adult-learning and facilitation credentials.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813048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Examples aligned to learner roles, devices and delivery channels.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59" y="3813048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59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E22CE"/>
                </a:solidFill>
                <a:latin typeface="Arial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Approved professional contact route.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COURSE FACILITATOR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55648"/>
            <a:ext cx="2880360" cy="43434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1600200" cy="160020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42032"/>
            <a:ext cx="160020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PRINCIPAL TRAINER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Tertiary Infotech Academy
enquiry@tertiaryinfotech.com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783080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34E6F"/>
                </a:solidFill>
                <a:latin typeface="Arial"/>
              </a:rPr>
              <a:t>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Digital transformation, courseware and e-learning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59" y="1783080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59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Facilitation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 explanation, coached Storyline practice and evidence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813048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Traceable storyboards, accessible interactions and verified publishing.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59" y="3813048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59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E22CE"/>
                </a:solidFill>
                <a:latin typeface="Arial"/>
              </a:rPr>
              <a:t>Learning 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Explain and test the reason behind every authoring decision.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OPENING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Your E-Learning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learning or content do you create or manage?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 must act differently after the experience?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LMS, web, Review 360, video or facilitated delivery?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does current authoring or review lose time?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feature is already familiar?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artifact will prove improvement?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the tools and explain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Respect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the work,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Protect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permitted media and retain rights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Save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Preserve BEGIN/END files and name working copies.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Share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Protect learner data and assessment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preview and published output before delivery.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LMS-TMS · LEARNER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1901952"/>
            <a:ext cx="109728" cy="109728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1901952"/>
            <a:ext cx="109728" cy="1097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109728" cy="1097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1847088"/>
            <a:ext cx="7955279" cy="256032"/>
          </a:xfrm>
          <a:prstGeom prst="roundRect">
            <a:avLst/>
          </a:prstGeom>
          <a:solidFill>
            <a:srgbClr val="32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892807"/>
            <a:ext cx="7635240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78608"/>
            <a:ext cx="89611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920"/>
                </a:solidFill>
                <a:latin typeface="Arial"/>
              </a:rPr>
              <a:t>Mastering Articulate Storyline 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63240"/>
            <a:ext cx="47548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Courseware · v11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3986784"/>
            <a:ext cx="749808" cy="56692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Trainer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3986784"/>
            <a:ext cx="749808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Learner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41264" y="3986784"/>
            <a:ext cx="749808" cy="56692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Detailed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77456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34656" y="3986784"/>
            <a:ext cx="749808" cy="56692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Delivery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0848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8048" y="3986784"/>
            <a:ext cx="749808" cy="5669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Storyline activities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32120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Outcome · the complete package is available in one authenticated course record.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COURSE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Four-Day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Storyboard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849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Curate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1067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Interact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9284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7502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Distribute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 course moves from content intent to accessible Storyline construction, reliable interaction and governed delivery.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TSC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Strategy · ICT-SNM-4004-1.1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TGS-2024042308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4 days · 32 hours, including 2 hours of assessment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K1–K6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A1–A7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 · PP 60 min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K1–K6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Knowledge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K1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Principles of digital storytelling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Potential customers' evolving preferences for content types, styles and modes of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K3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Process of developing a digital storyboard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K4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Parameters for delivering content for marketing purposes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K5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Features of marketing content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K6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Modes of content delivery for marketing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A1–A7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Ability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Conceptualise content ideas to meet marketing 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960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891B2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Map out digital storyboards as part of a content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16936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A580C"/>
                </a:solidFill>
                <a:latin typeface="Arial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Identify content requirements from customer and potential-customer preferences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916936"/>
            <a:ext cx="73152" cy="96012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7E22CE"/>
                </a:solidFill>
                <a:latin typeface="Arial"/>
              </a:rPr>
              <a:t>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the frequency of delivering marketing content to 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78224"/>
            <a:ext cx="73152" cy="960120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8A72"/>
                </a:solidFill>
                <a:latin typeface="Arial"/>
              </a:rPr>
              <a:t>A5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the types and styles of content to deliver to 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078224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A6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modes and processes for distributing content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39512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239512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349240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A7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660136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Develop guidelines for content-strategy execution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Conceptualise and map digital storyboards integrating principles of storytelling in Storyline 360.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and determine diverse e-learning content aligned with audience preferences, industry trends and content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LO3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Determine effective modes and processes for distributing interactive e-learning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Develop guidelines and determine content delivery frequency for effective e-learning delivery.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FOUR CONNECTED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Project Architecture and Storyboard
Blank project · scenes · theme · masters · storyboard · naming · variables · navigation · preview
LO1 · A1 · A2 · K1 · K3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Media, Interaction and Accessibility
Media Library · hazards · hotspots · layers · states · triggers · motion · simulation · audio · captions
LO2 · A3 · A5 · K2 · K5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Topic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Branching, Questions and Results
Branching · freeform · feedback · question banks · result slide · retry · review · completion
LO3 · A6 · K6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Topic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Review, Publishing and Governance
Player · translation · Review 360 · SCORM 1.2/2004 · Tin Can xAPI · LMS/LRS tests · retention
LO4 · A4 · A7 · K4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Individual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your own work with no discussion.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materials approved by the assessor.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Phones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Place phones and other unapproved materials under the 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 · PP 60 min.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provided document and upload through LMS-TMS.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Competent or Not Yet Competent, with reassessment and appeal rights.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SUMMATIVE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K1–K6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849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A1–A2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1067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A3–A5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9284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7502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A4 + A7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Six written questions and four practical tasks; each instrument is 60 minutes and open book.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AUTHORING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Tools, Materials and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supported Windows laptop, suitable display, mouse and reliable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Current supported Articulate Storyline 360 desktop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Local working folder with short paths and separate backup.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Rights-cleared pictures, audio, video, scripts and brand materials.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Output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Audience, device, channel, tracking, accessibility and update requirements.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.story files, protected assessment content and verified publishes.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TOOL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Storyline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Industry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Interactive e-learning, simulations, quizzes, scenarios and tracked packages.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Windows authoring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desktop authoring requires a supported Windows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Interface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Labels may move as releases evolve; authoring principles remain stable.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Decision over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features by purpose, audience, accessibility and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Responsible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outputs and retain provenance and permission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Trademark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Articulate and Storyline are Articulate trademarks; this course is provider-developed.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Project Architecture and Storyboard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Blank project · scenes · theme · masters · storyboard · naming · variables · navigation ·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LO1 · A1 · A2 · K1 · K3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STORYBOARD-PLANNING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Where Authoring Effort Accumulates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planning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Story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57984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57984"/>
            <a:ext cx="2551176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21408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69464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Screen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880360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2880360"/>
            <a:ext cx="34015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843784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91840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Media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602736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3602736"/>
            <a:ext cx="34015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566160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14216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Interaction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325112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4325112"/>
            <a:ext cx="425196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288536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736592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Review + QA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5047488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5047488"/>
            <a:ext cx="34015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010912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806440"/>
            <a:ext cx="2011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769864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Relative effort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READ THE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planning split: interactivity is only one workload. Story architecture, media readiness and review evidence must be planned before production.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PowerPoint shape chart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01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Local project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ar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WSA-001-Local-project-baseline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File &gt; Save As creates WSA-YourName-v01.story on a local Windows drive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v01 opens locally and the checksum/modified time identifies the retained…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Local project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ar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C1=short local path · C2=version suffix · C3=backup copy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network/removable-drive authoring; overwriting the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v01 opens locally and the checksum/modified time identifies the retained…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001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Local project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ar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network/removable-drive authoring; overwriting the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short local path; version suffix; backup copy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v01 opens locally and the checksum/modified time identifies the retained…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02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Story View scene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WSA-002-Story-View-scene-architecture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Story View groups Welcome, Learn, Practise, Quiz and Resources scenes and…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every route has an intended entry, return and terminal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Story View scene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C1=scene names · C2=start scene · C3=slide order · C4=jump targets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assuming canvas order controls runtime navigation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every route has an intended entry, return and terminal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002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Story View scene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assuming canvas order controls runtime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scene names; start scene; slide order; jump targets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every route has an intended entry, return and terminal slide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 size and safe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WSA-003-Slide-size-and-safe-area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16:9 size; player chrome; caption area; minimum target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Design &gt; Slide Size fixes the authoring canvas before layouts and media are placed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at the intended player size keeps controls and captions visible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changing size after build and clipping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WSA-003-Slide-size-and-safe-area: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 size and safe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C1=16:9 size · C2=player chrome · C3=caption area · C4=minimum target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changing size after build and clipping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preview at the intended player size keeps controls and captions visible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preview at the intended player size keeps controls and captions visible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003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 size and safe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changing size after build and clipping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16:9 size; player chrome; caption area; minimum target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preview at the intended player size keeps controls and captions visible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preview at the intended player size keeps controls and captions visible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Theme fonts and colours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WSA-004-Theme-fonts-and-colours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heading/body fonts; contrast; semantic colours; theme naming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&gt; Fonts &gt; Create New Theme Fonts and Design &gt; Colors &gt; Create New Theme Colors define the HarbourLink palette; Design &gt; Themes saves the combined theme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 values reproduce consistently on three representative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manual near-match colours and colour-only meaning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WSA-004-Theme-fonts-and-colours: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Theme fonts and colours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C1=heading/body fonts · C2=contrast · C3=semantic colours · C4=theme naming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manual near-match colours and colour-only meaning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theme values reproduce consistently on three representative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theme values reproduce consistently on three representative slides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004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Theme fonts and colours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manual near-match colours and colour-only 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heading/body fonts; contrast; semantic colours; theme naming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theme values reproduce consistently on three representative slides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theme values reproduce consistently on three representative slides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05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 master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553" y="1042415"/>
            <a:ext cx="455384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WSA-005-Slide-master-hierarchy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View &gt; Slide Master defines title, content, scenario and quiz layouts with…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new slides inherit geometry without unwanted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 master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553" y="1042415"/>
            <a:ext cx="455384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C1=master · C2=layout · C3=placeholder · C4=background · C5=inheritance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placing course-specific content on the master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new slides inherit geometry without unwanted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005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 master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553" y="1042415"/>
            <a:ext cx="455384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placing course-specific content on the master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master; layout; placeholder; background; inheritance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new slides inherit geometry without unwanted objects · verify in your own…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06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screen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WSA-006-Storyboard-screen-specification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unique IDs; owner; status; evidence;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supplied CSV maps screen ID, purpose, narration, asset, interaction, branch and accessibility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Storyline slide maps to one storyboard row and acceptance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building before branch and accessibility fields are resolved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WSA-006-Storyboard-screen-specification: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screen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C1=unique IDs · C2=owner · C3=status · C4=evidence · C5=source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building before branch and accessibility fields are resolved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Storyline slide maps to one storyboard row and acceptance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Storyline slide maps to one storyboard row and acceptance check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006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screen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building before branch and accessibility fields are 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unique IDs; owner; status; evidence;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Storyline slide maps to one storyboard row and acceptance check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Storyline slide maps to one storyboard row and acceptance check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07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Object naming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WSA-007-Object-naming-discipline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Timeline object names encode type and purpose such as btn_Hazard01 and…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trigger and focus panels can be audited without selecting each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Object naming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C1=prefixes · C2=unique names · C3=layer names · C4=variable names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leaving Rectangle 17 or duplicate names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trigger and focus panels can be audited without selecting each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007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Object naming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leaving Rectangle 17 or duplicate names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prefixes; unique names; layer names; variable names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trigger and focus panels can be audited without selecting each object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08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Timeline timing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timeline-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86112"/>
            <a:ext cx="11201400" cy="29772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WSA-008-Timeline-timing-model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Timeline start, duration and cue points coordinate narration, captions and…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preview timing matches the narration script at each cue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Timeline timing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timeline-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86112"/>
            <a:ext cx="11201400" cy="29772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C1=playhead · C2=cue point · C3=show until end · C4=align to playhead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objects appearing before narration or disappearing on revisit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preview timing matches the narration script at each cue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008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Timeline timing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timeline-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86112"/>
            <a:ext cx="11201400" cy="29772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objects appearing before narration or disappearing on revisit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playhead; cue point; show until end; align to playhead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preview timing matches the narration script at each cue point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Alignment and guides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WSA-009-Alignment-and-guides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guides; margins; distribute; aspect ratio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View guides plus Align and Distribute create a repeatable grid for text and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shared edges and spacing remain consistent at delivery 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pixel drift and stretched images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WSA-009-Alignment-and-guides: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Alignment and guides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C1=guides · C2=margins · C3=distribute · C4=aspect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pixel drift and stretched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shared edges and spacing remain consistent at delivery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shared edges and spacing remain consistent at delivery size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009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Alignment and guides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pixel drift and stretched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guides; margins; distribute; aspect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shared edges and spacing remain consistent at delivery size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shared edges and spacing remain consistent at delivery size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CONCEPT 10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Project variables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s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29" y="1042415"/>
            <a:ext cx="837729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WSA-010-Project-variables-register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Manage Project Variables defines typed names, defaults, purpose and reset…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variable reference panel matches the supplied logic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Project variables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s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29" y="1042415"/>
            <a:ext cx="837729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C1=True/False · C2=Number · C3=Text · C4=default · C5=scope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variables with ambiguous names or stale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variable reference panel matches the supplied logic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010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Project variables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s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29" y="1042415"/>
            <a:ext cx="837729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variables with ambiguous names or stale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True/False; Number; Text; default;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variable reference panel matches the supplied logic register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11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Scene menu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WSA-011-Scene-menu-navigation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 custom menu uses explicit Jump to slide triggers and visited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and pointer routes reach all four learning topics and 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Scene menu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C1=button state · C2=destination · C3=focus order · C4=return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relying on slide order or trapping the learner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and pointer routes reach all four learning topics and 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011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Scene menu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relying on slide order or trapping the learner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button state; destination; focus order; return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and pointer routes reach all four learning topics and return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12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Revisit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slide-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WSA-012-Revisit-behaviour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Slide Properties selects Automatically decide, Resume saved state or Reset…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back, next and relaunch tests produce the specified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Revisit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slide-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C1=revisit mode · C2=timeline · C3=layer state · C4=variable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global revisit choice applied without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back, next and relaunch tests produce the specified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012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Revisit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slide-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global revisit choice applied without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revisit mode; timeline; layer state; variable persistence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back, next and relaunch tests produce the specified state · verify in your…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13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feature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WSA-013-Player-feature-baseline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Player Properties exposes only required controls and a predictable course…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player and slide controls do not conflict in keyboard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feature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C1=menu · C2=seekbar · C3=volume · C4=captions · C5=glossary · C6=resources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duplicated navigation and inaccessible custom chrome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player and slide controls do not conflict in keyboard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013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feature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duplicated navigation and inaccessible custom chrome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menu; seekbar; volume; captions; glossary;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player and slide controls do not conflict in keyboard testing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14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Preview test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WSA-014-Preview-test-levels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slide logic; cross-slide routing; project variables; player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This Slide, This Scene and Entire Project reveal different classes of defects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scene and project test logs cover entry, exit, revisit and resume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signing off from single-slide preview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WSA-014-Preview-test-levels: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Preview test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C1=slide logic · C2=cross-slide routing · C3=project variables · C4=player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signing off from single-slide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scene and project test logs cover entry, exit, revisit and resume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scene and project test logs cover entry, exit, revisit and resume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014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Preview test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signing off from single-slide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slide logic; cross-slide routing; project variables; player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scene and project test logs cover entry, exit, revisit and resume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scene and project test logs cover entry, exit, revisit and resume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15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Recovery and version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WSA-015-Recovery-and-version-handoff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source version; owner; publish ID; backup; archive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Save As versions plus a release register separate editable source from published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handoff opens the exact source used to create the tested package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renaming only the published ZIP or losing the .story 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WSA-015-Recovery-and-version-handoff: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Recovery and version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C1=source version · C2=owner · C3=publish ID · C4=backup · C5=archive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renaming only the published ZIP or losing the .story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handoff opens the exact source used to create the tested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handoff opens the exact source used to create the tested package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015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Recovery and version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renaming only the published ZIP or losing the .story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source version; owner; publish ID; backup; 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handoff opens the exact source used to create the tested package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handoff opens the exact source used to create the tested package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16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HarbourLink annual WSH narrative beat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WSA-016-HarbourLink-annual-WSH-narrative-beat-map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protagonist; workplace goal; hazard tension; learner choice; consequence; resolution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worked beat map links normal work, visible disruption, decision, consequence and safer resolution across screen IDs WSA-001 to WSA-401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beat maps to a slide, learner action and observable safety outcome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adding a decorative story that does not change the learner 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WSA-016-HarbourLink-annual-WSH-narrative-beat-map: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HarbourLink annual WSH narrative beat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C1=protagonist · C2=workplace goal · C3=hazard tension · C4=learner choice · C5=consequence · C6=resolution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adding a decorative story that does not change the learner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beat maps to a slide, learner action and observable safety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beat maps to a slide, learner action and observable safety outcome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016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HarbourLink annual WSH narrative beat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adding a decorative story that does not change the learner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protagonist; workplace goal; hazard tension; learner choice; consequence;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beat maps to a slide, learner action and observable safety outcome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beat maps to a slide, learner action and observable safety outcome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17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Marketing objective to learning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WSA-017-Marketing-objective-to-learning-promise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business objective; audience action; course promise; metric; data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traceability row converts the provider objective 'increase induction completion and safe-reporting uptake' into a learner promise and measurable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objective, promise, interaction and metric read as one causal 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claiming engagement without a defined behaviour or measure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WSA-017-Marketing-objective-to-learning-promise: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Marketing objective to learning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C1=business objective · C2=audience action · C3=course promise · C4=metric · C5=data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claiming engagement without a defined behaviour or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objective, promise, interaction and metric read as one causal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objective, promise, interaction and metric read as one causal chain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017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Marketing objective to learning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claiming engagement without a defined behaviour or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business objective; audience action; course promise; metric; data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objective, promise, interaction and metric read as one causal chain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objective, promise, interaction and metric read as one causal chain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18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storyboard production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WSA-018-Digital-storyboard-production-cycle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screen ID; owner; asset; branch; access; version; approval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HarbourLink annual WSH storyboard moves through brief, screen map, narration/media, interaction/branch, accessibility, prototype review and signed revision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reviewed CSV row contains every required production field and disposition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treating the storyboard as on-screen copy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WSA-018-Digital-storyboard-production-cycle: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storyboard production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C1=screen ID · C2=owner · C3=asset · C4=branch · C5=access · C6=version · C7=approval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the storyboard as on-screen copy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one reviewed CSV row contains every required production field and disposition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one reviewed CSV row contains every required production field and disposition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018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storyboard production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the storyboard as on-screen copy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screen ID; owner; asset; branch; access; version;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one reviewed CSV row contains every required production field and disposition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one reviewed CSV row contains every required production field and disposition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19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PowerPoint slide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WSA-019-PowerPoint-slide-import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source file; selected slides; destination scene; imported masters; media links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Home &gt; New Slide &gt; Import imports selected source slides into a named scene, followed by master, font and trigger inspection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import log lists selected slides and the review confirms masters, focus order and navigation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assuming imported slide order, theme or accessibility is production-ready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WSA-019-PowerPoint-slide-import: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PowerPoint slide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C1=source file · C2=selected slides · C3=destination scene · C4=imported masters · C5=media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assuming imported slide order, theme or accessibility is production-ready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import log lists selected slides and the review confirms masters, focus order and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import log lists selected slides and the review confirms masters, focus order and navigation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019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PowerPoint slide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assuming imported slide order, theme or accessibility is production-ready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source file; selected slides; destination scene; imported masters; media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import log lists selected slides and the review confirms masters, focus order and navigation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import log lists selected slides and the review confirms masters, focus order and navigation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01 · Start the Safety Module and Storyboard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the local source baseline, five-scene architecture and traceable storyboard.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01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01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In Story View, create and name scenes `01 Welcome`, `02…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Five named scenes and storyboard IDs match.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01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HarbourLink-WSH-Checkpoint-01-YourName.story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the local source baseline, five-scene architecture and traceable storyboard.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named scenes and storyboard IDs match.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Variables use the specified type and default.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01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named scenes and storyboard IDs match.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Variables use the specified type and default.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Source and checkpoint are versioned locally.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Whole-project preview has no dead end.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01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named scenes and storyboard IDs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Variables use the specified type and default.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Source and checkpoint are versioned locally.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Whole-project preview has no dead 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01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HarbourLink-WSH-Checkpoint-01-YourName.story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named scenes and storyboard IDs match.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Variables use the specified type and default.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Whole-project preview has no dead end.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01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s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29" y="1042415"/>
            <a:ext cx="837729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Import `source/storyboard.csv` into your working notes and…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Five named scenes and storyboard IDs match.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Whole-project preview has no dead 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01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named scenes and storyboard IDs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Variables use the specified type and default.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Source and checkpoint are versioned locally.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Whole-project preview has no dead 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02 · Build Theme, Masters and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reusable visual layouts and accessible scene navigation.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02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02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553" y="1042415"/>
            <a:ext cx="455384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Choose Design &gt; Fonts &gt; Create New Theme Fonts and Design…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Four reusable layouts inherit correctly.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02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HarbourLink-WSH-Checkpoint-02-YourName.story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reusable visual layouts and accessible scene navigation.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reusable layouts inherit correctly.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 values match the style guide.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02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reusable layouts inherit correctly.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 values match the style guide.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Menu routes and returns correctly.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 focus and state changes are visible.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02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reusable layouts inherit correctly.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Theme values match the style guide.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Menu routes and returns correctly.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 focus and state changes are visible.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02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HarbourLink-WSH-Checkpoint-02-YourName.story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reusable layouts inherit correctly.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 values match the style guide.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 focus and state changes are visible.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02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ate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34" y="1042415"/>
            <a:ext cx="1028568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Open View &gt; Slide Master and build title, content,…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Four reusable layouts inherit correctly.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Keyboard focus and state changes are visible.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02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reusable layouts inherit correctly.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 values match the style guide.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Menu routes and returns correctly.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 focus and state changes are visible.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WSA ACCEPTANCE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1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HarbourLink-WSH-Checkpoint-02-YourName.story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Scenes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Welcome · Learn · Practise · Quiz ·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HazardsFound=0; Hazard01Found–07=False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Menu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destinations and explicit return paths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Reset/resume choice recorded per slide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 View, variable list and keyboard menu screenshot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Media, Interaction and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Media Library · hazards · hotspots · layers · states · triggers · motion · simulation · audio · captions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LO2 · A3 · A5 · K2 · K5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CONTENT-PLANNING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design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Text + visuals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57984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57984"/>
            <a:ext cx="425196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21408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69464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Narrated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880360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2880360"/>
            <a:ext cx="34015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843784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91840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Interactive scenario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602736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3602736"/>
            <a:ext cx="425196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566160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14216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Quiz + 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325112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4325112"/>
            <a:ext cx="2551176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288536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736592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Reference 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5047488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5047488"/>
            <a:ext cx="2551176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010912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806440"/>
            <a:ext cx="2011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769864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Illustrative share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READ THE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 mixed design serves different learning needs. Every audio/video element still needs captions, an accessible path and a reason to exist.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PowerPoint shape chart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20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Picture insertion and crop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WSA-020-Picture-insertion-and-crop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crop focal point; compression; alt text;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&gt; Picture plus Picture Format &gt; Crop fits safety photography without distortion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image remains sharp and the hazard stays visible at player 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stretching media or hiding critical hazard detail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WSA-020-Picture-insertion-and-crop: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Picture insertion and crop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C1=crop focal point · C2=compression · C3=alt text · C4=source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stretching media or hiding critical hazard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image remains sharp and the hazard stays visible at player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image remains sharp and the hazard stays visible at player size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020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Picture insertion and crop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stretching media or hiding critical hazard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crop focal point; compression; alt text;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image remains sharp and the hazard stays visible at player size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image remains sharp and the hazard stays visible at player size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21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Illustration and icon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WSA-021-Illustration-and-icon-system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style; size; theme colour; decorative flag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&gt; Icons/Illustrations creates consistent editable safety cues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icons reinforce labels and remain understandable without colour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mixing styles or announcing decorative icons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WSA-021-Illustration-and-icon-system: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Illustration and icon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C1=style · C2=size · C3=theme colour · C4=decorative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mixing styles or announcing decorative icons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icons reinforce labels and remain understandable without colour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icons reinforce labels and remain understandable without colour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021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Illustration and icon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mixing styles or announcing decorative icons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style; size; theme colour; decorative 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icons reinforce labels and remain understandable without colour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icons reinforce labels and remain understandable without colour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CONCEPT 22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Media Library replacement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media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WSA-022-Media-Library-replacement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View &gt; Media Library replaces a source asset and exposes where it is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replacement updates intended uses and preserves crops after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Media Library replacement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media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C1=asset name · C2=usage count · C3=replace · C4=source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changing one instance while duplicates 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replacement updates intended uses and preserves crops after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Media Library replacement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media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changing one instance while duplicates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asset name; usage count; replace; source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replacement updates intended uses and preserves crops after review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23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Hazard hotspot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hazard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WSA-023-Hazard-hotspot-geometry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Hotspots sit over seven visible hazards with non-overlapping target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all hazards can be activated by pointer and equivalent keyboard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Hazard hotspot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hazard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C1=target bounds · C2=label · C3=focus alternative · C4=z-order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tiny invisible targets or overlapping hotspots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all hazards can be activated by pointer and equivalent keyboard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Hazard hotspot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hazard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tiny invisible targets or overlapping hotspots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target bounds; label; focus alternative; z-order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all hazards can be activated by pointer and equivalent keyboard controls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24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Hotspot information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WSA-024-Hotspot-information-layers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Each hazard opens one named layer with risk, control and close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open/close cycles return focus to the invoking hazard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Hotspot information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C1=show layer · C2=hide layer · C3=focus · C4=pause base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click-through behind the layer or stranded focus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open/close cycles return focus to the invoking hazard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Hotspot information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click-through behind the layer or stranded focus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show layer; hide layer; focus; pause base timeline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open/close cycles return focus to the invoking hazard control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25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Keyboard hotspot alternative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hazard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WSA-025-Keyboard-hotspot-alternative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Visible numbered buttons mirror hotspot triggers for keyboard and…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activation shows the same hazard layer and visited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Keyboard hotspot alternative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hazard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C1=button label · C2=trigger parity · C3=focus order · C4=visible focus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mouse-only discovery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activation shows the same hazard layer and visited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Keyboard hotspot alternative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hazard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mouse-only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button label; trigger parity; focus order; visible focus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activation shows the same hazard layer and visited state · verify…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26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Layer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updated-slide-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286" y="1042415"/>
            <a:ext cx="4398379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WSA-026-Layer-properties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Layer Properties controls hide other layers, prevent base clicks, pause…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only one layer is operable and close restores the base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Layer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updated-slide-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286" y="1042415"/>
            <a:ext cx="4398379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C1=modal behaviour · C2=base visibility · C3=reset/resume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two hazard layers visible or base controls active behind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only one layer is operable and close restores the base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Layer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updated-slide-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286" y="1042415"/>
            <a:ext cx="4398379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two hazard layers visible or base controls active behind modal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modal behaviour; base visibility; reset/resume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only one layer is operable and close restores the base slide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CONCEPT 27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Built-in object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ate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34" y="1042415"/>
            <a:ext cx="1028568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WSA-027-Built-in-object-states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Normal, Hover, Down, Visited and Disabled states communicate interaction…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state change is perceivable in pointer and keyboard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Built-in object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ate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34" y="1042415"/>
            <a:ext cx="1028568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C1=state name · C2=contrast · C3=icon/text cue · C4=initial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colour-only visited state or disabled focus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state change is perceivable in pointer and keyboard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Built-in object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ate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34" y="1042415"/>
            <a:ext cx="1028568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colour-only visited state or disabled focus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state name; contrast; icon/text cue; initial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state change is perceivable in pointer and keyboard paths · verify in your…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CONCEPT 28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Custom hazard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edit-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34" y="1042415"/>
            <a:ext cx="1028568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WSA-028-Custom-hazard-states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Custom Safe and Selected states show mitigated equipment after a learner…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one object changes predictably without shifting geometry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Custom hazard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edit-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34" y="1042415"/>
            <a:ext cx="1028568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C1=custom state · C2=trigger condition · C3=persistent variable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duplicating whole objects for visual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one object changes predictably without shifting geometry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Custom hazard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edit-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34" y="1042415"/>
            <a:ext cx="1028568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duplicating whole objects for visual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custom state; trigger condition; persistent variable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one object changes predictably without shifting geometry · verify in your…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29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Trigger execution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WSA-029-Trigger-execution-order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The Triggers panel orders adjust-variable, change-state and show-layer…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trigger trace shows the variable updated before feedback/navigation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Trigger execution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C1=event · C2=object · C3=condition · C4=top-to-bottom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navigation fires before evidence is stored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trigger trace shows the variable updated before feedback/navigation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029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Trigger execution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navigation fires before evidence is stored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event; object; condition; top-to-bottom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trigger trace shows the variable updated before feedback/navigation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30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Conditional trigger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-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WSA-030-Conditional-trigger-gate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Next jumps only when HazardsFound equals 7; otherwise a prompt layer opens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six hazards block progression; seven allow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Conditional trigger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-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C1=condition · C2=comparison · C3=else feedback · C4=count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hidden dead-end or gate based on clicks rather than distinct hazards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six hazards block progression; seven allow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030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Conditional trigger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-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hidden dead-end or gate based on clicks rather than distinct hazards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condition; comparison; else feedback; count display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six hazards block progression; seven allow it · verify in your own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31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True/False completion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-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WSA-031-True-False-completion-flags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Hazard01Found through Hazard07Found prevent repeated clicks inflating the…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repeated activation leaves HazardsFound unchanged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True/False completion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-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C1=default False · C2=condition False · C3=set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incrementing every time a hotspot is clicked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repeated activation leaves HazardsFound unchanged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031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True/False completion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-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incrementing every time a hotspot is clicked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default False; condition False; set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repeated activation leaves HazardsFound unchanged · verify in your own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32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Number variable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adjust-vari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010" y="1042415"/>
            <a:ext cx="571293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WSA-032-Number-variable-counter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HazardsFound increments once per newly identified hazard and drives…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counter sequence is 0–7 and survives specified revisit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Number variable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adjust-vari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010" y="1042415"/>
            <a:ext cx="571293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C1=add 1 · C2=variable reference · C3=upper bound · C4=reset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counter exceeding seven or resetting on revisit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counter sequence is 0–7 and survives specified revisit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032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Number variable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adjust-vari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010" y="1042415"/>
            <a:ext cx="571293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counter exceeding seven or resetting on revisit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add 1; variable reference; upper bound; reset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counter sequence is 0–7 and survives specified revisit · verify in your…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33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Variable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WSA-033-Variable-references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reference syntax; accessible label; update event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Text %HazardsFound% of 7 found gives visible progress tied to runtime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display matches the variable after every unique selection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hard-coded progress text drifting from logic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WSA-033-Variable-references: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Variable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C1=reference syntax · C2=accessible label · C3=update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hard-coded progress text drifting from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display matches the variable after every unique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display matches the variable after every unique selection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033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Variable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hard-coded progress text drifting from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reference syntax; accessible label; update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display matches the variable after every unique selection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display matches the variable after every unique selection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CONCEPT 34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Motion path forklift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motion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WSA-034-Motion-path-forklift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 named motion path demonstrates a moving-forklift hazard and supports…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motion starts on learner action, remains visible and can be paused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Motion path forklift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motion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C1=path name · C2=duration · C3=relative start · C4=reverse · C5=trigger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uncontrolled autoplay motion or path ending off-canvas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motion starts on learner action, remains visible and can be paused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034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Motion path forklift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motion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uncontrolled autoplay motion or path ending off-canvas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path name; duration; relative start; reverse;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motion starts on learner action, remains visible and can be paused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35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Animation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WSA-035-Animation-accessibility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play/pause; duration; alternative; no flashing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is brief, purposeful and paired with static explanation and learner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meaning is available when animation is paused or skipped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decorative motion causing distraction or vestibular discomfort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WSA-035-Animation-accessibility: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Animation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C1=play/pause · C2=duration · C3=alternative · C4=no flashing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decorative motion causing distraction or vestibular discomfort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meaning is available when animation is paused or skipped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meaning is available when animation is paused or skipped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035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Animation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decorative motion causing distraction or vestibular discomfort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play/pause; duration; alternative; no flashing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meaning is available when animation is paused or skipped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meaning is available when animation is paused or skipped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36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Slider risk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s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WSA-036-Slider-risk-control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 1–5 slider writes RiskLevel and updates a textual risk 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arrow keys change the value and every value has a text equivalent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Slider risk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s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C1=start · C2=end · C3=step · C4=variable · C5=state 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unlabelled values or pointer-only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arrow keys change the value and every value has a text equivalent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036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Slider risk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s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unlabelled values or pointer-only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start; end; step; variable; state mapping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arrow keys change the value and every value has a text equivalent · verify…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37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Dial inspection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dial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646044"/>
            <a:ext cx="11201400" cy="16573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WSA-037-Dial-inspection-control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 dial rotates through inspection zones and reveals the matching checklist…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each detent selects exactly one named inspection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Dial inspection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dial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646044"/>
            <a:ext cx="11201400" cy="16573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C1=steps · C2=start · C3=end · C4=variable · C5=trigger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continuous values with unreachable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each detent selects exactly one named inspection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037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Dial inspection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dial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646044"/>
            <a:ext cx="11201400" cy="16573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continuous values with unreachable 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steps; start; end; variable;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each detent selects exactly one named inspection zone · verify in your own…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38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Web object incident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WSA-038-Web-object-incident-form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index.html root; focus exit; fallback link; offline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&gt; Web Object embeds the supplied local incident-report simulation folder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output loads locally and keyboard users can enter and leave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a single HTML file or depending on external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WSA-038-Web-object-incident-form: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Web object incident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C1=index.html root · C2=focus exit · C3=fallback link · C4=offline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selecting a single HTML file or depending on external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published output loads locally and keyboard users can enter and leave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published output loads locally and keyboard users can enter and leave it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038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Web object incident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selecting a single HTML file or depending on external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index.html root; focus exit; fallback link; offline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published output loads locally and keyboard users can enter and leave it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published output loads locally and keyboard users can enter and leave it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CONCEPT 39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Screen recording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ins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395" y="1042415"/>
            <a:ext cx="6514161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WSA-039-Screen-recording-preparation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Slides &gt; Record Screen captures a clean bounded application workflow with…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test capture is readable and follows the scripted incident-report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Screen recording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ins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395" y="1042415"/>
            <a:ext cx="6514161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C1=recording region · C2=resolution · C3=notifications · C4=rehearsal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tiny UI, exposed data or unplanned cursor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test capture is readable and follows the scripted incident-report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039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Screen recording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ins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395" y="1042415"/>
            <a:ext cx="6514161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tiny UI, exposed data or unplanned cursor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recording region; resolution; notifications; rehearsal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test capture is readable and follows the scripted incident-report path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CONCEPT 40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View mode screencast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WSA-040-View-mode-screencast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Insert recording as Video on a Single Slide for an uninterrupted demonstration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pause, seek and use captions/transcript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View mode screencast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C1=video controls · C2=captions · C3=trim · C4=poster 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autoplay sound or unreadable cursor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pause, seek and use captions/transcript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040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View mode screencast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autoplay sound or unreadable cursor detail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video controls; captions; trim; poster 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pause, seek and use captions/transcript · verify in your own…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41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Try mode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WSA-041-Try-mode-simulation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Insert recording as Step-by-Step Slides &gt; Try Mode adds coached…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expected actions advance and wrong actions show actionable coaching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Try mode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C1=hint caption · C2=hotspot · C3=failure layer · C4=attempts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automatic steps accepting the wrong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expected actions advance and wrong actions show actionable coaching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041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Try mode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automatic steps accepting the wrong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hint caption; hotspot; failure layer; attempts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expected actions advance and wrong actions show actionable coaching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42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Test mode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WSA-042-Test-mode-simulation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Test Mode records scored actions without coaching and reports through 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correct and incorrect actions score according to the specification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Test mode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C1=score · C2=attempts · C3=feedback · C4=tracked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testing pixel precision instead of meaningful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correct and incorrect actions score according to the specification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042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Test mode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testing pixel precision instead of meaningful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score; attempts; feedback; tracked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correct and incorrect actions score according to the specification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43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Audio narration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timeline-cue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64004"/>
            <a:ext cx="11201400" cy="302143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WSA-043-Audio-narration-import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Insert &gt; Audio &gt; Audio from File places the supplied WAV/MP3 on the…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one intelligible track plays and stops at the specified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Audio narration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timeline-cue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64004"/>
            <a:ext cx="11201400" cy="302143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C1=timeline name · C2=trim · C3=volume · C4=fade · C5=playback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multiple tracks overlapping on revisit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one intelligible track plays and stops at the specified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043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Audio narration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timeline-cue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64004"/>
            <a:ext cx="11201400" cy="302143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multiple tracks overlapping on revisit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timeline name; trim; volume; fade; playback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one intelligible track plays and stops at the specified boundary · verify…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44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Caption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caption-editor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92" y="1042415"/>
            <a:ext cx="710816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WSA-044-Caption-import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Select the audio, then Options &gt; Import (or Accessibility &gt; Import CC)…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caption spot-check matches narration at start, middle and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Caption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caption-editor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92" y="1042415"/>
            <a:ext cx="710816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C1=VTT timing · C2=speaker labels · C3=meaningful sound · C4=position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captions drifting or covering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caption spot-check matches narration at start, middle and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044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Caption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caption-editor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92" y="1042415"/>
            <a:ext cx="710816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captions drifting or covering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VTT timing; speaker labels; meaningful sound; 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caption spot-check matches narration at start, middle and end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45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Transcript equivalent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WSA-045-Transcript-equivalent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equivalent meaning; reading order; download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Resources or an accessible text layer supplies narration plus relevant visual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learner can complete the objective without hearing the audio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verbatim transcript omitting visual hazards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WSA-045-Transcript-equivalent: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Transcript equivalent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C1=equivalent meaning · C2=reading order · C3=download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verbatim transcript omitting visual hazards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learner can complete the objective without hearing the audio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learner can complete the objective without hearing the audio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045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Transcript equivalent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verbatim transcript omitting visual hazards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equivalent meaning; reading order; download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learner can complete the objective without hearing the audio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learner can complete the objective without hearing the audio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46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Focus order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WSA-046-Focus-order-panel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object visibility; order; names; layer focus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Home &gt; Focus Order removes decorative objects and sequences interactive content logically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Tab/Shift+Tab follows the intended task sequence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timeline order mistaken for reading 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WSA-046-Focus-order-panel: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Focus order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C1=object visibility · C2=order · C3=names · C4=layer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timeline order mistaken for reading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Tab/Shift+Tab follows the intended task 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Tab/Shift+Tab follows the intended task sequence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046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Focus order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timeline order mistaken for reading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object visibility; order; names; layer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Tab/Shift+Tab follows the intended task sequence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Tab/Shift+Tab follows the intended task sequence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47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Alternative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WSA-047-Alternative-text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concise purpose; decorative blank; no filename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Size and Position &gt; Accessibility names meaningful images and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screen-reader output conveys the hazard and available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describing appearance but omitting instructional meaning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WSA-047-Alternative-text: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Alternative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C1=concise purpose · C2=decorative blank · C3=no filename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describing appearance but omitting instructional meaning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screen-reader output conveys the hazard and available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screen-reader output conveys the hazard and available action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047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Alternative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describing appearance but omitting instructional 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concise purpose; decorative blank; no filename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screen-reader output conveys the hazard and available action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screen-reader output conveys the hazard and available action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48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text styling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WSA-048-Accessible-text-styling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font size; contrast; spacing; heading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Native text, sufficient contrast and restrained formatting preserve zoom and reflow usability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remains readable at 200% browser zoom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text baked into images or low-contrast overlays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WSA-048-Accessible-text-styling: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text styling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C1=font size · C2=contrast · C3=spacing · C4=heading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text baked into images or low-contrast overlays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content remains readable at 200% browser zoom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content remains readable at 200% browser zoom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048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text styling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text baked into images or low-contrast overlays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font size; contrast; spacing; heading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content remains readable at 200% browser zoom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content remains readable at 200% browser zoom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49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Audience preference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WSA-049-Audience-preference-matrix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persona; context; device; language; accessibility; format; 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worked matrix compares new warehouse staff, supervisors and mobile field staff by prior knowledge, language, device, bandwidth, session length and evidence need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audience difference changes a named media, interaction or delivery choice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using one content style because it is convenient for the author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WSA-049-Audience-preference-matrix: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Audience preference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C1=persona · C2=context · C3=device · C4=language · C5=accessibility · C6=format · C7=duration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using one content style because it is convenient for the author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audience difference changes a named media, interaction or delivery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audience difference changes a named media, interaction or delivery choice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049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Audience preference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using one content style because it is convenient for the author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persona; context; device; language; accessibility; format; duration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audience difference changes a named media, interaction or delivery choice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audience difference changes a named media, interaction or delivery choice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50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type and style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WSA-050-Content-type-and-style-decision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content type; style; mode; criterion; score; rationale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selection table scores narrated scenario, hotspot inspection, job aid and quiz against immediacy, practice, accessibility and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selected mix has a recorded criterion-level rationale and accessible equivalent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choosing novelty over performance need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WSA-050-Content-type-and-style-decision: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type and style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C1=content type · C2=style · C3=mode · C4=criterion · C5=score · C6=rationale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choosing novelty over performance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selected mix has a recorded criterion-level rationale and accessible equivalent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selected mix has a recorded criterion-level rationale and accessible equivalent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050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type and style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choosing novelty over performance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content type; style; mode; criterion; score; rationale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selected mix has a recorded criterion-level rationale and accessible equivalent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selected mix has a recorded criterion-level rationale and accessible equivalent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51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Safety content feature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WSA-051-Safety-content-feature-specification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accuracy; relevance; clarity; interactivity; accessibility;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specification defines concise copy, realistic hazards, consequence feedback, learner control, captions and persistent progress as mandatory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feature has an owner, threshold and preview/publish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describing features as broad benefits without acceptance values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WSA-051-Safety-content-feature-specification: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Safety content feature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C1=accuracy · C2=relevance · C3=clarity · C4=interactivity · C5=accessibility · C6=provenance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describing features as broad benefits without acceptance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feature has an owner, threshold and preview/publish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feature has an owner, threshold and preview/publish test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051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Safety content feature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describing features as broad benefits without acceptance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accuracy; relevance; clarity; interactivity; accessibility; provenance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feature has an owner, threshold and preview/publish test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feature has an owner, threshold and preview/publish test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52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Library 360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WSA-052-Content-Library-360-assets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asset type; search/filter; licence context; crop; alt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&gt; Content Library 360 adds a permitted template, character or media asset and records its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inserted asset is adapted to the WSA theme and has purpose, provenance and accessibility metadata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treating a template as finished instruction or mixing incompatible styles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WSA-052-Content-Library-360-assets: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Library 360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C1=asset type · C2=search/filter · C3=licence context · C4=crop · C5=alt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a template as finished instruction or mixing incompatible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inserted asset is adapted to the WSA theme and has purpose, provenance and accessibility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inserted asset is adapted to the WSA theme and has purpose, provenance and accessibility metadata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052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Library 360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a template as finished instruction or mixing incompatible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asset type; search/filter; licence context; crop; alt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inserted asset is adapted to the WSA theme and has purpose, provenance and accessibility metadata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inserted asset is adapted to the WSA theme and has purpose, provenance and accessibility metadata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53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360-degree image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WSA-053-360-degree-image-interaction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initial view; marker label; hotspot target; accessible alternative; completion cue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&gt; 360° Image adds an explorable warehouse view with labelled markers and hotspots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required locations are discoverable with an equivalent keyboard-accessible list and clear completion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hidden required targets, motion discomfort or mouse-only exploration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WSA-053-360-degree-image-interaction: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360-degree image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C1=initial view · C2=marker label · C3=hotspot target · C4=accessible alternative · C5=completion cue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hidden required targets, motion discomfort or mouse-only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all required locations are discoverable with an equivalent keyboard-accessible list and clear completion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all required locations are discoverable with an equivalent keyboard-accessible list and clear completion state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053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360-degree image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hidden required targets, motion discomfort or mouse-only 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initial view; marker label; hotspot target; accessible alternative; completion cue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920"/>
                </a:solidFill>
                <a:latin typeface="Arial"/>
              </a:rPr>
              <a:t>all required locations are discoverable with an equivalent keyboard-accessible list and clear completion state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all required locations are discoverable with an equivalent keyboard-accessible list and clear completion state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54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insert and 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video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WSA-054-Video-insert-and-edit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Insert &gt; Video adds a safety demonstration; Video Tools configures trim,…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pause/seek and obtain equivalent meaning through captions and…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insert and 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video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C1=source · C2=trim in/out · C3=playback · C4=compression · C5=captions ·…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autoplay with sound, unreadable detail or captions covering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pause/seek and obtain equivalent meaning through captions and…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054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insert and 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video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autoplay with sound, unreadable detail or captions covering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source; trim in/out; playback; compression; captions; transcript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pause/seek and obtain equivalent meaning through captions and…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55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Native text, shapes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WSA-055-Native-text-shapes-and-tables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heading hierarchy; margins; table headers; contrast; focus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&gt; Text Box, Shape and Table creates editable safety labels and a risk-control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remains editable, readable at 200% zoom and ordered logically for assistive technology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text baked into images or tables used only for layout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WSA-055-Native-text-shapes-and-tables: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Native text, shapes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C1=heading hierarchy · C2=margins · C3=table headers · C4=contrast · C5=focus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text baked into images or tables used only for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content remains editable, readable at 200% zoom and ordered logically for assistive 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content remains editable, readable at 200% zoom and ordered logically for assistive technology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055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Native text, shapes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text baked into images or tables used only for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heading hierarchy; margins; table headers; contrast; focus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content remains editable, readable at 200% zoom and ordered logically for assistive technology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content remains editable, readable at 200% zoom and ordered logically for assistive technology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03 · Add Media and Hazard Scene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Construct the warehouse visual with rights-aware media and seven meaningful hazards.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03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03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hazard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In Slide View choose Insert &gt; Picture, browse to…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Seven hazards are visually plausible.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03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HarbourLink-WSH-Checkpoint-03-YourName.story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Construct the warehouse visual with rights-aware media and seven meaningful hazards.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Seven hazards are visually plausible.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Media retains aspect ratio and provenance.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03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Seven hazards are visually plausible.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Media retains aspect ratio and provenance.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Hotspots do not overlap.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Visible keyboard alternatives map one-to-one.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03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Seven hazards are visually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Media retains aspect ratio and provenance.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Hotspots do not overlap.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Visible keyboard alternatives map one-to-one.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03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HarbourLink-WSH-Checkpoint-03-YourName.story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Seven hazards are visually plausible.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Media retains aspect ratio and provenance.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Visible keyboard alternatives map one-to-one.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03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interactive-o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72" y="1042415"/>
            <a:ext cx="674980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Choose Picture Tools — Format &gt; Crop; drag the crop…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Seven hazards are visually plausible.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Visible keyboard alternatives map one-to-one.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03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Seven hazards are visually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Media retains aspect ratio and provenance.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Hotspots do not overlap.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Visible keyboard alternatives map one-to-one.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04 · Add Layers, States, Variables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Make hazard discovery accessible, persistent and completion-gated.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04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04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Create True/False variables `Hazard01Found` through…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Counter never exceeds seven.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04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HarbourLink-WSH-Checkpoint-04-YourName.story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Make hazard discovery accessible, persistent and completion-gated.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Counter never exceeds seven.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Repeated selections do not inflate progress.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04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Counter never exceeds seven.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Repeated selections do not inflate progress.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hazards block and seven permit progression.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Pointer and keyboard paths show identical content.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04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Counter never exceeds seven.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Repeated selections do not inflate progress.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Six hazards block and seven permit progression.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Pointer and keyboard paths show identical content.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04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HarbourLink-WSH-Checkpoint-04-YourName.story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Counter never exceeds seven.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Repeated selections do not inflate progress.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Pointer and keyboard paths show identical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04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variable-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Open Slide Layers &gt; New Layer; create `lyr_Hazard01`…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Counter never exceeds seven.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Pointer and keyboard paths show identical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04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Counter never exceeds seven.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Repeated selections do not inflate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hazards block and seven permit progression.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Pointer and keyboard paths show identical content.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05 · Build Motion, Slider and Dial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Use motion and data controls to explain dynamic workplace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05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05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s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Insert a slider on the risk screen; select Slider Tools —…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Motion is learner-controlled.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05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HarbourLink-WSH-Checkpoint-05-YourName.story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motion and data controls to explain dynamic workplace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is learner-controlled.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slider values have text equivalents.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05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is learner-controlled.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slider values have text equivalents.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dial detent maps to one zone.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Revisit matches the specification.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05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is learner-controlled.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All slider values have text equivalents.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Every dial detent maps to one zone.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Revisit matches the specification.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05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HarbourLink-WSH-Checkpoint-05-YourName.story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is learner-controlled.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slider values have text equivalents.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Revisit matches the specification.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05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lider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2" y="1042415"/>
            <a:ext cx="434988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In Slider Tools — Design &gt; Variable bind the slider to…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Motion is learner-controlled.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Revisit matches the specification.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05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is learner-controlled.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slider values have text equivalents.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dial detent maps to one zone.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Revisit matches the specification.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06 · Create View, Try and Test Simulations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Capture and deploy the supplied incident-report simulation in three Storyline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06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06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creen-recording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57" y="1042415"/>
            <a:ext cx="577883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Open `source/incident-report/index.html`, use fictional…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Recording exposes no private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06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HarbourLink-WSH-Checkpoint-06-YourName.story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Capture and deploy the supplied incident-report simulation in three Storyline modes.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Recording exposes no private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View mode can pause and seek.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06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Recording exposes no private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View mode can pause and seek.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mode coaches wrong actions.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mode scores specified actions.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06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Recording exposes no private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View mode can pause and seek.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Try mode coaches wrong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mode scores specified 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06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HarbourLink-WSH-Checkpoint-06-YourName.story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Recording exposes no private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View mode can pause and seek.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mode scores specified actions.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06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Record a readable bounded region with Slides &gt; Record Screen.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Recording exposes no private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Test mode scores specified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06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Recording exposes no private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View mode can pause and seek.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mode coaches wrong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mode scores specified 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07 · Add Audio, Captions and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Add the supplied eight-scene HarbourLink annual WSH narration with one matching MP3/VTT pair per screen, equivalent transcript and keyboard-operable Replay/Stop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07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07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caption-editor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92" y="1042415"/>
            <a:ext cx="710816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For each screen 01–08, choose Insert &gt; Audio &gt; Audio from…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Narration and captions synchronise.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07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HarbourLink-WSH-Checkpoint-07-YourName.story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the supplied eight-scene HarbourLink annual WSH narration with one matching MP3/VTT pair per screen, equivalent transcript and keyboard-operable Replay/Stop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and captions synchronise.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Transcript conveys equivalent visual meaning.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07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and captions synchronise.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Transcript conveys equivalent visual meaning.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Focus order is logical.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task depends on hearing or precise pointer input.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07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and captions synchronise.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Transcript conveys equivalent visual meaning.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Focus order is logical.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task depends on hearing or precise pointer input.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07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HarbourLink-WSH-Checkpoint-07-YourName.story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and captions synchronise.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Transcript conveys equivalent visual meaning.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task depends on hearing or precise pointer input.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07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caption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92" y="1042415"/>
            <a:ext cx="710816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Rename each Timeline audio object `aud_HLL_01` through…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Narration and captions synchronise.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No task depends on hearing or precise pointer input.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07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and captions synchronise.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Transcript conveys equivalent visual meaning.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Focus order is logical.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task depends on hearing or precise pointer input.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WSA ACCEPTANCE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2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HarbourLink-WSH-Checkpoint-07-YourName.story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Hazards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Seven unique targets; duplicate clicks do not increment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Dialog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Named layer, focus trap, Close/return focus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Media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9 s mock narration + matching VTT + transcript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View/Try/Test paths separated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7-of-7 runtime and accessibility test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Branching, Questions and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Branching · freeform · feedback · question banks · result slide · retry · review ·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LO3 · A6 · K6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QA-PLANNING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Complexity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QA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Linear reveal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57984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57984"/>
            <a:ext cx="637794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21408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69464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Layered explore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880360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2880360"/>
            <a:ext cx="127558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843784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91840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Variable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602736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3602736"/>
            <a:ext cx="212598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566160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14216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Branching scenario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325112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4325112"/>
            <a:ext cx="34015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288536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736592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Quiz + resume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5047488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5047488"/>
            <a:ext cx="425196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010912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806440"/>
            <a:ext cx="2011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769864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Test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E22CE"/>
                </a:solidFill>
                <a:latin typeface="Arial"/>
              </a:rPr>
              <a:t>READ THE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test-case counts grow faster than the number of visible screens. Map trigger order, revisit, retry and accessibility before adding complexity.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PowerPoint shape chart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56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Branching decision scene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WSA-056-Branching-decision-scene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Three response choices route to consequence layers and reconverge deliberately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every path reaches feedback and the specified continuation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Branching decision scene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C1=choice trigger · C2=consequence · C3=return · C4=state preservation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branches with no return or unearned success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every path reaches feedback and the specified continuation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056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Branching decision scene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branches with no return or unearned 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choice trigger; consequence; return; state preservation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every path reaches feedback and the specified continuation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CONCEPT 57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Freeform pick-one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form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WSA-057-Freeform-pick-one-conversion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Insert &gt; Convert to Freeform turns workplace objects into a scored…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selection can be revised before Submit and scores correctly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Freeform pick-one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form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C1=response set · C2=correct object · C3=states · C4=submit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visual ambiguity or automatic submission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selection can be revised before Submit and scores correctly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057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Freeform pick-one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form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visual ambiguity or automatic submission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response set; correct object; states; submit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selection can be revised before Submit and scores correctly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58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Freeform hotspot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WSA-058-Freeform-hotspot-question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hotspot region; score; attempts;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screenshot-based hazard question uses defined regions and consequence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equivalent keyboard-operable response path is provided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mouse-only graded task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WSA-058-Freeform-hotspot-question: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Freeform hotspot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C1=hotspot region · C2=score · C3=attempts · C4=feedback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mouse-only graded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an equivalent keyboard-operable response path is provided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an equivalent keyboard-operable response path is provided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058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Freeform hotspot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mouse-only graded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hotspot region; score; attempts;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an equivalent keyboard-operable response path is provided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an equivalent keyboard-operable response path is provided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59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Drag-and-drop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drag-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WSA-059-Drag-and-drop-fallback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 sorting interaction includes keyboard-accessible buttons or an…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both paths create the same instructional and scoring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Drag-and-drop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drag-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C1=drag item · C2=drop target · C3=snap · C4=reset · C5=fallback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requiring precise dragging as the only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both paths create the same instructional and scoring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059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Drag-and-drop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drag-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requiring precise dragging as the only route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drag item; drop target; snap; reset;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both paths create the same instructional and scoring outcome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60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form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form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WSA-060-Question-form-configuration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Form View defines prompt, choices, score, attempts, shuffle and feedback…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question specification matches runtime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form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form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C1=question type · C2=points · C3=required · C4=attempts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styling before the scoring model is stable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question specification matches runtime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060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form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form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styling before the scoring model is stable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question type; points; required; attempts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question specification matches runtime scoring · verify in your own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61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Feedback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quiz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WSA-061-Feedback-layers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Correct, Incorrect and Try Again layers explain the safety consequence and…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state why the response changes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Feedback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quiz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C1=layer text · C2=continue · C3=focus · C4=attempts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feedback saying only correct/incorrect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state why the response changes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061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Feedback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quiz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feedback saying only correct/incorrect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layer text; continue; focus; attempts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can state why the response changes risk · verify in your own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62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bank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98282"/>
            <a:ext cx="11201400" cy="29528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WSA-062-Question-bank-design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 Safety Bank groups items by criterion and supports controlled random draws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repeated draws preserve minimum content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bank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98282"/>
            <a:ext cx="11201400" cy="29528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C1=bank name · C2=criterion tags · C3=draw count · C4=randomisation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random draw missing a required criterion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repeated draws preserve minimum content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062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bank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98282"/>
            <a:ext cx="11201400" cy="29528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random draw missing a required criterion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bank name; criterion tags; draw count; randomisation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repeated draws preserve minimum content coverage · verify in your own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CONCEPT 63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Draw from question 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74" y="1042415"/>
            <a:ext cx="499460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WSA-063-Draw-from-question-bank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Slides &gt; Question Banks &gt; New Draw from Question Bank selects the intended…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preview draws the configured count and result slide includes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Draw from question 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74" y="1042415"/>
            <a:ext cx="499460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C1=draw count · C2=include/exclude · C3=lock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tracking the bank source instead of delivered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preview draws the configured count and result slide includes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063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Draw from question 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74" y="1042415"/>
            <a:ext cx="499460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tracking the bank source instead of delivered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draw count; include/exclude; lock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preview draws the configured count and result slide includes them · verify…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CONCEPT 64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 slide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quiz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WSA-064-Result-slide-tracking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Insert &gt; New Slide &gt; Results tracks only the scored quiz and sets 80%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known answer sets return expected percentage and pass/fail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 slide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quiz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C1=tracked questions · C2=passing score · C3=score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tracking the wrong questions or allowing slides-viewed bypass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known answer sets return expected percentage and pass/fail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064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 slide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quiz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tracking the wrong questions or allowing slides-viewed bypass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tracked questions; passing score; score display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known answer sets return expected percentage and pass/fail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65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Retry quiz trigger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WSA-065-Retry-quiz-trigger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reset results; destination; attempt 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Retry Quiz resets tracked questions and relevant variables before returning to the quiz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second attempt starts clean while permitted course progress remains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old answers or hazard variables contaminating retry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WSA-065-Retry-quiz-trigger: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Retry quiz trigger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C1=reset results · C2=destination · C3=attempt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old answers or hazard variables contaminating retry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second attempt starts clean while permitted course progress remains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second attempt starts clean while permitted course progress remains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065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Retry quiz trigger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old answers or hazard variables contaminating retry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reset results; destination; attempt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second attempt starts clean while permitted course progress remains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second attempt starts clean while permitted course progress remains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66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quiz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WSA-066-Review-quiz-behaviour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review state; correct-answer display; navigation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Quiz shows submitted responses without exposing answers before completion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is unavailable until submission and then matches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answer leakage during the active attempt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WSA-066-Review-quiz-behaviour: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quiz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C1=review state · C2=correct-answer display · C3=navigation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answer leakage during the active attempt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review is unavailable until submission and then matches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review is unavailable until submission and then matches policy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066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quiz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answer leakage during the active attempt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review state; correct-answer display;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review is unavailable until submission and then matches policy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review is unavailable until submission and then matches policy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67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Submit-all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WSA-067-Submit-all-interaction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submit mode; confirmation; unanswered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Submit All Responses defers scoring when the design requires final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confirmation identifies unanswered items before final scoring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learner submits incomplete quiz accidentally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WSA-067-Submit-all-interaction: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Submit-all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C1=submit mode · C2=confirmation · C3=unanswered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learner submits incomplete quiz accidentally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confirmation identifies unanswered items before final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confirmation identifies unanswered items before final scoring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067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Submit-all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learner submits incomplete quiz accidentally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submit mode; confirmation; unanswered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confirmation identifies unanswered items before final scoring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confirmation identifies unanswered items before final scoring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68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Results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quiz-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33" y="1042415"/>
            <a:ext cx="975488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WSA-068-Results-variables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Built-in SafetyQuiz.ScorePercent and SafetyQuiz.PassPercent support…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displayed values match LMS debug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Results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quiz-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33" y="1042415"/>
            <a:ext cx="975488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C1=variable reference · C2=rounding · C3=pass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manual score formulas drifting from Storyline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displayed values match LMS debug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068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Results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quiz-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33" y="1042415"/>
            <a:ext cx="975488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manual score formulas drifting from Storyline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variable reference; rounding; pass threshold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displayed values match LMS debug data · verify in your own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CONCEPT 69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Completion trigger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completion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WSA-069-Completion-trigger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Course completion reports from the selected quiz result, with no competing…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viewing every slide without passing does not report successful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Completion trigger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completion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C1=complete/pass trigger · C2=result slide · C3=conditions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multiple completion criteria using OR and bypassing the quiz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viewing every slide without passing does not report successful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069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Completion trigger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completion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multiple completion criteria using OR and bypassing the quiz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complete/pass trigger; result slide; conditions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viewing every slide without passing does not report successful completion…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70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Branch and quiz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WSA-070-Branch-and-quiz-test-matrix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expected state; actual state; evidence; defect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structured matrix covers correct, incorrect, incomplete, retry, review, revisit and 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high-risk cases have recorded results and resolved defects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testing only the happy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WSA-070-Branch-and-quiz-test-matrix: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Branch and quiz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C1=expected state · C2=actual state · C3=evidence · C4=defect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testing only the happy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all high-risk cases have recorded results and resolved defects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all high-risk cases have recorded results and resolved defects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070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Branch and quiz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testing only the happy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expected state; actual state; evidence; defect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all high-risk cases have recorded results and resolved defects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all high-risk cases have recorded results and resolved defects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71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Zoom region timing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WSA-071-Zoom-region-timing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region bounds; timeline start/end; duration; return to normal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&gt; Zoom Region enlarges a named detail only during the explanatory cue-point interval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zoom begins at the named cue point, reveals the required detail and returns before the next task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decorative zoom or loss of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WSA-071-Zoom-region-timing: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Zoom region timing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C1=region bounds · C2=timeline start/end · C3=duration · C4=return to 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decorative zoom or loss of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zoom begins at the named cue point, reveals the required detail and returns before the next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zoom begins at the named cue point, reveals the required detail and returns before the next task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071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Zoom region timing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decorative zoom or loss of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region bounds; timeline start/end; duration; return to 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zoom begins at the named cue point, reveals the required detail and returns before the next task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zoom begins at the named cue point, reveals the required detail and returns before the next task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72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WSA-072-Slide-transitions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transition type; duration; advance mode; reduced-motion alternative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Transitions applies one restrained transition at scene boundaries and records timing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scene change remains predictable and no essential meaning depends on motion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different transitions on every slide or automatic advance before content completes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WSA-072-Slide-transitions: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C1=transition type · C2=duration · C3=advance mode · C4=reduced-motion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different transitions on every slide or automatic advance before content completes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scene change remains predictable and no essential meaning depends on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scene change remains predictable and no essential meaning depends on motion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072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different transitions on every slide or automatic advance before content completes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transition type; duration; advance mode; reduced-motion alternative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scene change remains predictable and no essential meaning depends on motion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scene change remains predictable and no essential meaning depends on motion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08 · Build Branching and Freeform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consequence-based decisions and an accessible freeform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08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08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full-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Create three choice buttons and three Dialog consequence…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All branches reach feedback and continuation.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08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HarbourLink-WSH-Checkpoint-08-YourName.story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consequence-based decisions and an accessible freeform interaction.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branches reach feedback and continuation.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Freeform scoring matches the specification.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08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branches reach feedback and continuation.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Freeform scoring matches the specification.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Feedback explains consequence.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Equivalent keyboard route is complete.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08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branches reach feedback and continuation.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Freeform scoring matches the specification.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Feedback explains consequence.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Equivalent keyboard route is complete.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08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HarbourLink-WSH-Checkpoint-08-YourName.story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branches reach feedback and continuation.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Freeform scoring matches the specification.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Equivalent keyboard route is complete.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08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story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042415"/>
            <a:ext cx="864819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Create or open placeholder `WSA-220 Reconvergence`; add…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All branches reach feedback and continuation.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Equivalent keyboard route is complete.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08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branches reach feedback and continuation.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Freeform scoring matches the specification.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Feedback explains consequence.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Equivalent keyboard route is complete.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09 · Build the Safety Question Bank and Quiz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five-question graded quiz with controlled bank coverage and 80%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09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09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74" y="1042415"/>
            <a:ext cx="4994604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Create five graded items: hazard recognition, control…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Five criteria are covered.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09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HarbourLink-WSH-Checkpoint-09-YourName.story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a five-question graded quiz with controlled bank coverage and 80% pass.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criteria are covered.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Scoring is reproducible.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09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criteria are covered.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Scoring is reproducible.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and states are accessible.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Answers are not leaked before submission.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09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criteria are covered.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Scoring is reproducible.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Instructions and states are accessible.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Answers are not leaked before submission.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09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HarbourLink-WSH-Checkpoint-09-YourName.story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criteria are covered.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Scoring is reproducible.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Answers are not leaked before submission.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09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bank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197511"/>
            <a:ext cx="11201400" cy="45544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For each item open Form View and enter the prompt, choices…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Five criteria are covered.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Answers are not leaked before submission.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09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criteria are covered.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Scoring is reproducible.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and states are accessible.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Answers are not leaked before submission.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10 · Configure Results, Retry and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Track only the scored quiz, set 80% pass and prove retry/review behaviour.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10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quiz-fu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Open Result Tools — Design &gt; Quiz Settings and select only…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80% threshold is exact.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10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HarbourLink-WSH-Checkpoint-10-YourName.story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Track only the scored quiz, set 80% pass and prove retry/review behaviour.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80% threshold is exact.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Slides viewed cannot bypass the quiz.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10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80% threshold is exact.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Slides viewed cannot bypass the quiz.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Retry starts a clean quiz attempt.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appears only after submission.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10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80% threshold is exact.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Slides viewed cannot bypass the quiz.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Retry starts a clean quiz attempt.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appears only after submission.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10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HarbourLink-WSH-Checkpoint-10-YourName.story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80% threshold is exact.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Slides viewed cannot bypass the quiz.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appears only after submission.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10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trackin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In Result Tools — Design set Quiz Type to `Final…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80% threshold is exact.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Review appears only after submission.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10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80% threshold is exact.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Slides viewed cannot bypass the quiz.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Retry starts a clean quiz attempt.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appears only after submission.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WSA ACCEPTANCE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3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HarbourLink-WSH-Checkpoint-10-YourName.story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Five criteria; 80% classroom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3/5 fail · 4/5 pass · 5/5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Reset result before jump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Quiz Result only; no slides-viewed bypass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Result properties and pass/fail readback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Review, Publishing and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Player · translation · Review 360 · SCORM 1.2/2004 · Tin Can xAPI · LMS/LRS tests ·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LO4 · A4 · A7 · K4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CHANNEL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publishing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Review 360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57984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57984"/>
            <a:ext cx="425196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21408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414015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2414015"/>
            <a:ext cx="1700784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377439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670048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2670048"/>
            <a:ext cx="4251960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2633472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750058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060954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3060954"/>
            <a:ext cx="425196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024378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316986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3316986"/>
            <a:ext cx="850392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280410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573018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3573018"/>
            <a:ext cx="1700784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536442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653028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Video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963924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51760" y="3963924"/>
            <a:ext cx="850392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927348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219956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4219956"/>
            <a:ext cx="850392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183380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475988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51760" y="4475988"/>
            <a:ext cx="1700784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439412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555998"/>
            <a:ext cx="1874519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LMS/LRS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4866894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1760" y="4866894"/>
            <a:ext cx="4251960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4830318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5122926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51760" y="5122926"/>
            <a:ext cx="425196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5086350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5378958"/>
            <a:ext cx="4297680" cy="201168"/>
          </a:xfrm>
          <a:prstGeom prst="rect">
            <a:avLst/>
          </a:prstGeom>
          <a:solidFill>
            <a:srgbClr val="EB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51760" y="5378958"/>
            <a:ext cx="2551176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5342382"/>
            <a:ext cx="65836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920"/>
                </a:solidFill>
                <a:latin typeface="Arial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" y="5806440"/>
            <a:ext cx="201168" cy="20116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" y="5769864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Interactivity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14016" y="5806440"/>
            <a:ext cx="201168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0048" y="5769864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Tracking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59936" y="5806440"/>
            <a:ext cx="201168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15968" y="5769864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READ THE CHART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1–5 comparison: choose the channel from interaction, tracking, review and governance requirements—not from export convenience alone.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PowerPoint shape chart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73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accessibility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WSA-073-Player-accessibility-controls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Player Properties retains volume, captions, keyboard focus and clear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and screen-reader test reaches each enabled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accessibility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C1=controls · C2=colour · C3=language · C4=menu · C5=seekbar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hiding controls required for media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and screen-reader test reaches each enabled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073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accessibility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hiding controls required for media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controls; colour; language; menu; seekbar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keyboard and screen-reader test reaches each enabled control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CONCEPT 74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Translation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loc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WSA-074-Translation-workflow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File &gt; Localization &gt; XLIFF/Word Translation exports text, protects…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import preserves triggers and representative layouts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Translation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loc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C1=XLIFF/Word workflow · C2=locale · C3=font · C4=expansion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editing object IDs or truncating expanded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import preserves triggers and representative layouts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074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Translation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loc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editing object IDs or truncating expanded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XLIFF/Word workflow; locale; font; expansion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import preserves triggers and representative layouts fit · verify in your…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75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WSA-075-Review-360-publishing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item name; version; comments; resolve/reopen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Home &gt; Publish &gt; Review 360 creates a versioned review item with named reviewers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comment has owner, disposition and source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treating comments as the only requirement record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WSA-075-Review-360-publishing: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C1=item name · C2=version · C3=comments · C4=resolve/reopen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comments as the only requirement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comment has owner, disposition and source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comment has owner, disposition and source version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075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comments as the only requirement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item name; version; comments; resolve/reopen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comment has owner, disposition and source version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comment has owner, disposition and source version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76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WSA-076-Review-version-control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review URL; version label; approval snapshot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Update an existing Review 360 item only when continuity is intended; otherwise create a new item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approved comment set maps to a retained .story checksum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overwriting an approved review with untracked changes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WSA-076-Review-version-control: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C1=review URL · C2=version label · C3=approval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overwriting an approved review with untracked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approved comment set maps to a retained .story checksum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approved comment set maps to a retained .story checksum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076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overwriting an approved review with untracked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review URL; version label; approval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approved comment set maps to a retained .story checksum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approved comment set maps to a retained .story checksum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77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LMS/LRS publish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ublish-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13" y="1042415"/>
            <a:ext cx="489232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WSA-077-LMS-LRS-publish-target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Home &gt; Publish &gt; LMS/LRS opens title, folder, quality, reporting and…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local publish completes and the settings record identifies the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LMS/LRS publish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ublish-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13" y="1042415"/>
            <a:ext cx="489232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C1=publish path · C2=title · C3=identifier · C4=standard · C5=tracking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publishing to a synced/network folder or reusing IDs carelessly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local publish completes and the settings record identifies the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077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LMS/LRS publish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ublish-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13" y="1042415"/>
            <a:ext cx="489232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publishing to a synced/network folder or reusing IDs carelessly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publish path; title; identifier; standard;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local publish completes and the settings record identifies the package ·…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78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SCORM 1.2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WSA-078-SCORM-1-2-reporting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Passed/Incomplete; Passed/Failed; identifier; title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Reporting and Tracking selects SCORM 1.2 and the LMS status pair required by the target LMS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sandbox records score, lesson status, location and suspend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choosing a status model without LMS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WSA-078-SCORM-1-2-reporting: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SCORM 1.2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C1=Passed/Incomplete · C2=Passed/Failed · C3=identifier · C4=title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choosing a status model without LMS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sandbox records score, lesson status, location and suspend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sandbox records score, lesson status, location and suspend data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078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SCORM 1.2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choosing a status model without LMS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Passed/Incomplete; Passed/Failed; identifier;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sandbox records score, lesson status, location and suspend data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sandbox records score, lesson status, location and suspend data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79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SCORM 2004 editions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reporting-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042415"/>
            <a:ext cx="486460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WSA-079-SCORM-2004-editions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Reporting and Tracking selects the LMS-supported SCORM 2004 edition and…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sandbox launch, suspend/resume and score readback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SCORM 2004 editions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reporting-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042415"/>
            <a:ext cx="486460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C1=edition · C2=completion · C3=success · C4=score · C5=identifier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assuming every LMS supports the same edition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sandbox launch, suspend/resume and score readback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079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SCORM 2004 editions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reporting-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042415"/>
            <a:ext cx="486460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assuming every LMS supports the same edition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edition; completion; success; score; identifier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sandbox launch, suspend/resume and score readback pass · verify in your…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80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Tin Can xAPI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WSA-080-Tin-Can-xAPI-publishing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activity ID; actor; endpoint; auth; statements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Reporting and Tracking selects xAPI (Tin Can API) and uses launch-supplied actor/LRS configuration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launch sends expected statements without credentials stored in the package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embedding LRS secrets in learner assets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WSA-080-Tin-Can-xAPI-publishing: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Tin Can xAPI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C1=activity ID · C2=actor · C3=endpoint · C4=auth · C5=statements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embedding LRS secrets in learner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 launch sends expected statements without credentials stored in the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test launch sends expected statements without credentials stored in the package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080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Tin Can xAPI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embedding LRS secrets in learner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activity ID; actor; endpoint; auth; statements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 launch sends expected statements without credentials stored in the package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test launch sends expected statements without credentials stored in the package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81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cmi5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WSA-081-cmi5-boundary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AU launch; session; moveOn; masteryScore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cmi5 is chosen only when the LMS supports its launch/session rules and xAPI statement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cmi5 conformance test shows launched, completed and passed lifecycle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treating generic xAPI and cmi5 as interchangeable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WSA-081-cmi5-boundary: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cmi5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C1=AU launch · C2=session · C3=moveOn · C4=masteryScore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generic xAPI and cmi5 as interchangeable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cmi5 conformance test shows launched, completed and passed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cmi5 conformance test shows launched, completed and passed lifecycle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081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cmi5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treating generic xAPI and cmi5 as interchangeable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AU launch; session; moveOn; masteryScore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cmi5 conformance test shows launched, completed and passed lifecycle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cmi5 conformance test shows launched, completed and passed lifecycle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F8A72"/>
                </a:solidFill>
                <a:latin typeface="Arial"/>
              </a:rPr>
              <a:t>CONCEPT 82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Tracking criteria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trackin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WSA-082-Tracking-criteria-semantics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The scored safety module tracks the quiz result only because multiple…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F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F8A7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slides-viewed alone cannot complete the scored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Tracking criteria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trackin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C1=result slide · C2=criteria list · C3=completion 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adding slides viewed and allowing a bypass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slides-viewed alone cannot complete the scored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082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Tracking criteria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trackin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adding slides viewed and allowing a bypass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result slide; criteria list; completion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slides-viewed alone cannot complete the scored module · verify in your own…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D97706"/>
                </a:solidFill>
                <a:latin typeface="Arial"/>
              </a:rPr>
              <a:t>CONCEPT 83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Publish Success ZIP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publish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WSA-083-Publish-Success-ZIP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Publish Successful &gt; ZIP creates an upload package with imsmanifest.xml…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archive inspection finds manifest and launch assets at root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Publish Success ZIP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publish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C1=ZIP command · C2=manifest root · C3=no extra wrapper 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zipping the containing folder manually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archive inspection finds manifest and launch assets at root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083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Publish Success ZIP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publish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042415"/>
            <a:ext cx="7296912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zipping the containing folder manually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ZIP command; manifest root; no extra wrapper folder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archive inspection finds manifest and launch assets at root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AI RECREATED — ILLUSTRATIVE UI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34E6F"/>
                </a:solidFill>
                <a:latin typeface="Arial"/>
              </a:rPr>
              <a:t>CONCEPT 84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 sandbox upload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-demo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58" y="1042415"/>
            <a:ext cx="7005035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WSA-084-LMS-sandbox-upload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 non-production LMS course tests launch, completion, score, bookmark,…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fresh, failed, passed and resumed attempts read back correctly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 sandbox upload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-demo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58" y="1042415"/>
            <a:ext cx="7005035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C1=learner ID · C2=attempt · C3=status · C4=score · C5=resume · C6=debug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using production learners for package debugging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fresh, failed, passed and resumed attempts read back correctly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084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 sandbox upload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-demo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58" y="1042415"/>
            <a:ext cx="7005035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using production learners for package debugging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learner ID; attempt; status; score; resume; debug 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fresh, failed, passed and resumed attempts read back correctly · verify in…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CONCEPT 85 ·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SCORM runtime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-demo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58" y="1042415"/>
            <a:ext cx="7005035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NAMED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WSA-085-SCORM-runtime-reference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The supplied workplacesafety-scorm site informs runtime test structure,…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891B2"/>
                </a:solidFill>
                <a:latin typeface="Arial"/>
              </a:rPr>
              <a:t>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comparison notes distinguish its SCORM demo role from the new Storyline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7E22CE"/>
                </a:solidFill>
                <a:latin typeface="Arial"/>
              </a:rPr>
              <a:t>INTERFACE · NAMED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SCORM runtime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-demo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58" y="1042415"/>
            <a:ext cx="7005035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C1=API discovery · C2=status · C3=score · C4=bookmark · C5=session time ·…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claiming the reference is Storyline output or an xAPI tester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comparison notes distinguish its SCORM demo role from the new Storyline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92828"/>
                </a:solidFill>
                <a:latin typeface="Arial"/>
              </a:rPr>
              <a:t>TECHNICAL ANCHOR 085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SCORM runtime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-demo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58" y="1042415"/>
            <a:ext cx="7005035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claiming the reference is Storyline output or an xAPI tester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FIX IN NAMED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API discovery; status; score; bookmark; session time; suspend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952744"/>
            <a:ext cx="34564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C9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6007608"/>
            <a:ext cx="822960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989320"/>
            <a:ext cx="2359152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>
                <a:solidFill>
                  <a:srgbClr val="161920"/>
                </a:solidFill>
                <a:latin typeface="Arial"/>
              </a:rPr>
              <a:t>comparison notes distinguish its SCORM demo role from the new Storyline…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10881360" cy="1097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5B6372"/>
                </a:solidFill>
                <a:latin typeface="Arial"/>
              </a:rPr>
              <a:t>Authentic Articulate interface reference · verify the named control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86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Standalone preview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WSA-086-Standalone-preview-boundary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preview notice; no tracking claim;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course.html style standalone preview is used for visual checks only because no LMS API is present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report labels standalone and LMS evidence separately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equating local browser preview with LMS completion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WSA-086-Standalone-preview-boundary: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Standalone preview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C1=preview notice · C2=no tracking claim · C3=fallback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equating local browser preview with LMS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 report labels standalone and LMS evidence separately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test report labels standalone and LMS evidence separately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086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Standalone preview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equating local browser preview with LMS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preview notice; no tracking claim;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 report labels standalone and LMS evidence separately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test report labels standalone and LMS evidence separately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87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LMS debug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WSA-087-LMS-debug-diagnosis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API found; Initialize; SetValue; Commit; Terminate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Browser console and LMS debug logs isolate API discovery, commit, status and suspend-data failures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timestamps identify the failing runtime call and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guessing from a visible course screen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WSA-087-LMS-debug-diagnosis: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LMS debug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C1=API found · C2=Initialize · C3=SetValue · C4=Commit · C5=Terminate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guessing from a visible course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log timestamps identify the failing runtime call and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log timestamps identify the failing runtime call and value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087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LMS debug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guessing from a visible course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API found; Initialize; SetValue; Commit; Terminate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log timestamps identify the failing runtime call and value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log timestamps identify the failing runtime call and value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88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Package regression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WSA-088-Package-regression-test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source version; package checksum; clean state;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Republish after source changes and rerun the full high-risk matrix against a clean learner attempt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new package checksum and clean readback match the release register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reusing a contaminated learner attempt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WSA-088-Package-regression-test: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Package regression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C1=source version · C2=package checksum · C3=clean state · C4=results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reusing a contaminated learner attempt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new package checksum and clean readback match the release register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new package checksum and clean readback match the release register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088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Package regression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reusing a contaminated learner attempt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source version; package checksum; clean state;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new package checksum and clean readback match the release register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new package checksum and clean readback match the release register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89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Release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WSA-089-Release-retention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owner; date; version; checksum; review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.story, publish settings, ZIP, test log, review approval and asset provenance together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auditor can reproduce which source and settings created the live package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keeping only the uploaded ZIP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WSA-089-Release-retention: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Release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C1=owner · C2=date · C3=version · C4=checksum · C5=review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keeping only the uploaded 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auditor can reproduce which source and settings created the live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auditor can reproduce which source and settings created the live package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089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Release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keeping only the uploaded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owner; date; version; checksum; review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auditor can reproduce which source and settings created the live package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auditor can reproduce which source and settings created the live package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90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Articulate Labs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WSA-090-Articulate-Labs-boundary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duplicate source; experiment flag; fallback;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Experimental Articulate Labs features are tried only in a duplicate sandbox project with manual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baseline remains buildable without the experiment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making an experimental feature mandatory in production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WSA-090-Articulate-Labs-boundary: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Articulate Labs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C1=duplicate source · C2=experiment flag · C3=fallback · C4=review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making an experimental feature mandatory 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baseline remains buildable without the 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baseline remains buildable without the experiment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090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Articulate Labs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making an experimental feature mandatory in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duplicate source; experiment flag; fallback;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baseline remains buildable without the experiment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baseline remains buildable without the experiment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91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AI-assisted authoring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WSA-091-AI-assisted-authoring-fallback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prompt record; provenance; human review; manual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Optional AI proposes copy or imagery, while the author verifies accuracy, rights and accessibility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release evidence identifies reviewer and the non-AI fallback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publishing generated output without verification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WSA-091-AI-assisted-authoring-fallback: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AI-assisted authoring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C1=prompt record · C2=provenance · C3=human review · C4=manual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publishing generated output without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E22CE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E22CE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release evidence identifies reviewer and the non-AI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release evidence identifies reviewer and the non-AI fallback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091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AI-assisted authoring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publishing generated output without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prompt record; provenance; human review; manual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release evidence identifies reviewer and the non-AI fallback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release evidence identifies reviewer and the non-AI fallback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92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mode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WSA-092-Distribution-mode-comparison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channel; launch; tracking; interaction; security; 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worked decision table compares Review 360, web, video, SCORM LMS and xAPI/cmi5 by interactivity, identity, score, resume, review and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SCORM LMS wins for scored induction and the rejected modes have recorded reasons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the easiest export rather than the required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WSA-092-Distribution-mode-comparison: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mode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C1=channel · C2=launch · C3=tracking · C4=interaction · C5=security · C6=maintenance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selecting the easiest export rather than the required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8A7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8A7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SCORM LMS wins for scored induction and the rejected modes have recorded reasons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SCORM LMS wins for scored induction and the rejected modes have recorded reasons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092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mode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selecting the easiest export rather than the required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channel; launch; tracking; interaction; security;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SCORM LMS wins for scored induction and the rejected modes have recorded reasons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SCORM LMS wins for scored induction and the rejected modes have recorded reasons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93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Delivery cadence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WSA-093-Delivery-cadence-calculation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trigger date; audience; channel; owner; stop condition; review interval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30-day induction cadence schedules launch on Day 0, reminders on Days 3 and 7, supervisor escalation on Day 10 and content review every 180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calendar table totals each touchpoint and stops when completion status is read 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sending reminders after completion or setting cadence without an owner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WSA-093-Delivery-cadence-calculation: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Delivery cadence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C1=trigger date · C2=audience · C3=channel · C4=owner · C5=stop condition · C6=review interval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sending reminders after completion or setting cadence without an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calendar table totals each touchpoint and stops when completion status is read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calendar table totals each touchpoint and stops when completion status is read back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093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Delivery cadence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sending reminders after completion or setting cadence without an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trigger date; audience; channel; owner; stop condition; review interval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calendar table totals each touchpoint and stops when completion status is read back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calendar table totals each touchpoint and stops when completion status is read back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94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Cadence exception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WSA-094-Cadence-exception-rules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status; threshold; retry; suppression; escalation; privacy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Status-driven rules suppress reminders for passed learners, route failed learners to retry guidance and escalate overdue incomplete learners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learner records produce the correct next contact and no unnecessary disclosure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broadcasting scores or sending identical messages to every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WSA-094-Cadence-exception-rules: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Cadence exception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C1=status · C2=threshold · C3=retry · C4=suppression · C5=escalation · C6=privacy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broadcasting scores or sending identical messages to every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34E6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4E6F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 learner records produce the correct next contact and no unnecessary disclosure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test learner records produce the correct next contact and no unnecessary disclosure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094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Cadence exception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broadcasting scores or sending identical messages to every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status; threshold; retry; suppression; escalation;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test learner records produce the correct next contact and no unnecessary disclosure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test learner records produce the correct next contact and no unnecessary disclosure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95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execution guideline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WSA-095-Content-execution-guideline-register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rule ID; rationale; owner; verification; exception; review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WSA guideline records tone, terminology, template, object naming, accessibility, review, publish ID, cadence and archive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release reviewer can accept or reject each rule from retained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guidelines with no verifier or exception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WSA-095-Content-execution-guideline-register: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execution guideline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C1=rule ID · C2=rationale · C3=owner · C4=verification · C5=exception · C6=review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guidelines with no verifier or exception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 release reviewer can accept or reject each rule from retained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 release reviewer can accept or reject each rule from retained evidence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095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execution guideline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guidelines with no verifier or exception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rule ID; rationale; owner; verification; exception; review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a release reviewer can accept or reject each rule from retained evidence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a release reviewer can accept or reject each rule from retained evidence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96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Lifecycle metric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Named HarbourLink WSH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WSA-096-Lifecycle-metric-decision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 / source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 checkpoint plus metric; source; threshold; action; owner; review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Runtime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worked register links completion, pass rate, retry rate, incident-report simulation errors and overdue rate to a defined action threshold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threshold triggers a named content, coaching or cadence response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Rejected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collecting analytics without a decision purpose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WSA-096-Lifecycle-metric-decision: capture the configured control and the runtime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CONFIGURATION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Lifecycle metric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SET THESE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C1=metric · C2=source · C3=threshold · C4=action · C5=owner · C6=review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REJECT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collecting analytics without a decision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VERIFY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threshold triggers a named content, coaching or cadence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threshold triggers a named content, coaching or cadence response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TECHNICAL ANCHOR 096 · WORKED SYNTHETIC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Lifecycle metric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official guidance; v11 technical anchor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FAULTY OUTPUT (EXAMPLE)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collecting analytics without a decision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CORRECT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metric; source; threshold; action; owner; review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246120"/>
            <a:ext cx="237744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28800"/>
            <a:ext cx="3401568" cy="1280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48840"/>
            <a:ext cx="29260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2828"/>
                </a:solidFill>
                <a:latin typeface="Arial"/>
              </a:rPr>
              <a:t>EXPECTED AFTER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670048"/>
            <a:ext cx="2926080" cy="2148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each threshold triggers a named content, coaching or cadence response · verify in your own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10698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HarbourLink model · each threshold triggers a named content, coaching or cadence response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11 · Configure Player, Translation and Review 360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Prepare the module for accessible review and localisation.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11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11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Open Player Properties and enable only required controls,…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Player controls are keyboard accessible.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11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HarbourLink-WSH-Checkpoint-11-YourName.story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Prepare the module for accessible review and localisation.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Player controls are keyboard accessible.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Translation workflow protects logic identifiers.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11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Player controls are keyboard accessible.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Translation workflow protects logic identifiers.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ownership is explicit.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upload is claimed without readback.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11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Player controls are keyboard accessible.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Translation workflow protects logic identifiers.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Review ownership is explicit.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upload is claimed without readback.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11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HarbourLink-WSH-Checkpoint-11-YourName.story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Player controls are keyboard accessible.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Translation workflow protects logic identifiers.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upload is claimed without readback.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11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layer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89" y="1042415"/>
            <a:ext cx="4929373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Choose File &gt; Localization &gt; XLIFF/Word Translation &gt;…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Player controls are keyboard accessible.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No upload is claimed without readback.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11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Player controls are keyboard accessible.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Translation workflow protects logic identifiers.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ownership is explicit.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upload is claimed without readback.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12 · Publish and Test SCORM 1.2 and 2004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root-correct SCORM packages and verify runtime behaviour in a sandbox.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12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12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fficial-publish-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13" y="1042415"/>
            <a:ext cx="489232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Open Reporting and Tracking; select `SCORM 1.2`.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Two distinct packages and setting records exist.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12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HarbourLink-WSH-Checkpoint-12-YourName.story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root-correct SCORM packages and verify runtime behaviour in a sandbox.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distinct packages and setting records exist.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Manifest is at archive root.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12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distinct packages and setting records exist.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Manifest is at archive root.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Score/status/resume read back in sandbox.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Reference boundary is stated accurately.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12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distinct packages and setting records exist.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Manifest is at archive root.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Score/status/resume read back in sandbox.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Reference boundary is stated accurately.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12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HarbourLink-WSH-Checkpoint-12-YourName.story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distinct packages and setting records exist.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Manifest is at archive root.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Reference boundary is stated accurately.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12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trackin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042415"/>
            <a:ext cx="8643596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Select the target LMS reporting status pair and record it;…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Two distinct packages and setting records exist.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Reference boundary is stated accurately.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12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distinct packages and setting records exist.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Manifest is at archive root.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Score/status/resume read back in sandbox.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Reference boundary is stated accurately.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13 · Publish Tin Can xAPI and Validate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Prepare an xAPI package without embedded secrets and complete regression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13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EA580C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13 · Interface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reporting-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042415"/>
            <a:ext cx="486460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Use this authentic interface capture to find the named…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Select `xAPI (Tin Can API)` and enter the approved stable…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No credential appears in the package.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Capture one final-state screenshot for the task; this…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13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HarbourLink-WSH-Checkpoint-13-YourName.story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Prepare an xAPI package without embedded secrets and complete regression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 annual WSH refresher; picture-first content, narration, captions, keyboard access and five-question 80% practice quiz.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credential appears in the package.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Activity identifier is stable and recorded.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13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credential appears in the package.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Activity identifier is stable and recorded.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Statement evidence or honest blocker is retained.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Release package is reproducible.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13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credential appears in the package.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Activity identifier is stable and recorded.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Statement evidence or honest blocker is retained.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Release package is reproducible.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13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HarbourLink-WSH-Checkpoint-13-YourName.story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credential appears in the package.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Activity identifier is stable and recorded.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Release package is reproducible.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418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0642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0891B2"/>
                </a:solidFill>
                <a:latin typeface="Arial"/>
              </a:rPr>
              <a:t>AUTHENTIC ARTICULATE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Activity 13 · Verify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06424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official product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05840"/>
            <a:ext cx="1142085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recreated-reporting-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042415"/>
            <a:ext cx="4864608" cy="4864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34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134E6F"/>
                </a:solidFill>
                <a:latin typeface="Arial"/>
              </a:rPr>
              <a:t>Named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Track the quiz Results slide and record the selected…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0891B2"/>
                </a:solidFill>
                <a:latin typeface="Arial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No credential appears in the package.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EA580C"/>
                </a:solidFill>
                <a:latin typeface="Arial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Release package is reproducible.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952744"/>
            <a:ext cx="259689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6007608"/>
            <a:ext cx="676656" cy="137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7E22CE"/>
                </a:solidFill>
                <a:latin typeface="Arial"/>
              </a:rPr>
              <a:t>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5989320"/>
            <a:ext cx="1737360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161920"/>
                </a:solidFill>
                <a:latin typeface="Arial"/>
              </a:rPr>
              <a:t>Show the learner-created checkpoint and final setting, not…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13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credential appears in the package.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Activity identifier is stable and recorded.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Statement evidence or honest blocker is retained.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Release package is reproducible.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14 · Independent Mini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Independently create a small original e-learning module from a new blank project and present verified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Activity 14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14 · Artifact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Capstone-YourName-v01.story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Independently create a small original e-learning module from a new blank project and present verified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Scenario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Own learning topic; blank project; original narration, interaction, quiz and standards package.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Required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Original blank project and brief are evident.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Control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Required Storyline mechanisms work together.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Readback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14 · Runtime State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with declared defaults and no prior test residue.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named WSA asset, learner decision or publish setting.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Original blank project and brief are evident.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Stored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Required Storyline mechanisms work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Runtime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Accessibility and test evidence are complete.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Capstone is labelled separately from formal PP.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14 · Worked Failure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Original blank project and brief are evident.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Incomplete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 when: Required Storyline mechanisms work together. is not demonstrated.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Repeat/revisit must preserve: Accessibility and test evidence are complete.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Capstone is labelled separately from formal PP.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Correct the named setting in the next checkpoint, then rerun the same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expected, actual, pass/fail and corrected version.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TECHNICAL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14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Capstone-YourName-v01.story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13472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Evidence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decisive learner screenshot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Setting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Original blank project and brief are evident.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04032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304032"/>
            <a:ext cx="73152" cy="13472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5200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2399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Required Storyline mechanisms work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Regression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Capstone is labelled separately from formal PP.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52416"/>
            <a:ext cx="5294376" cy="1347216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852416"/>
            <a:ext cx="73152" cy="1347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53584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10784"/>
            <a:ext cx="4892040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named .story checkpoint, the completed self-check table and one screenshot for each task showing the final state or setting that proves the acceptance criteria.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EXPECTED VERSUS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Activity 14 · Test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Original blank project and brief are evident.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960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891B2"/>
                </a:solidFill>
                <a:latin typeface="Arial"/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Required Storyline mechanisms work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16936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A580C"/>
                </a:solidFill>
                <a:latin typeface="Arial"/>
              </a:rPr>
              <a:t>Case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Accessibility and test evidence are complete.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916936"/>
            <a:ext cx="73152" cy="96012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7E22CE"/>
                </a:solidFill>
                <a:latin typeface="Arial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Publishing choice matches the target.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78224"/>
            <a:ext cx="73152" cy="960120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8A72"/>
                </a:solidFill>
                <a:latin typeface="Arial"/>
              </a:rPr>
              <a:t>Case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Capstone is labelled separately from formal PP.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078224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Revisit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Navigate away and back; compare actual state with the specified revisit rule.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39512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239512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349240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660136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Log expected, actual, pass/fail, defect owner and corrected checkpoint filename.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WSA ACCEPTANCE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4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HarbourLink-WSH-Checkpoint-13-YourName.story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SCORM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1.2 and supported 2004 edition; manifest at ZIP root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xAPI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Actor/endpoint/auth supplied at launch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Day0, Day3/7, Day10; stop on completion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Source + settings + checksum + sandbox 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Score/status/resume or honest blocked-test record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HarbourLink WSH Release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HarbourLink-WSH-Checkpoint-13-YourName.story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Quiz Result only; classroom quiz 5 questions, 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Package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SCORM/xAPI ZIP checksum recorded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Fail, pass, bookmark, resume and session-time 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Day0 launch; Days3/7 reminders; Day10 escalation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180-day owner review event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CONTENT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HarbourLink WSH Media Attribution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v11 asset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activities/source/media-attribution.json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file · kind · owner · source_page · accessed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Generated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warehouse-seven-hazards.png · AI-generated fictional scene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Official 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official-caption-editor.png · Articulate support 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Training orientation; official capture is not learner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File hash and source URL retained with release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HarbourLink WSH Generated Asset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Asset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warehouse-seven-hazards.png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Fictional unsafe warehouse for seven-target inspection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Seven named hazards visible; no accidental text/logo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Instructional alt text + numbered keyboard controls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compliance or real-site claim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Prompt/provenance entry retained in asset register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A7 · EXECUTION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Comment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Comment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Caption covers Next at phone-width player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author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Due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Before package regression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 → corrected → resolved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Acceptance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Caption clear of control; keyboard path retested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 not send assessment content publicly.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WA +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849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1067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9284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60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7502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92828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Submit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Complete your own open-book evidence and upload the provided documents through LMS-TMS when instructed.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COMPETENCY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TRAQOM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849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Assessment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1067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then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9284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Submit 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7502" y="2834639"/>
            <a:ext cx="201168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A580C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Sign summary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Complete TRAQOM, digital assessment attendance, WA then PP, LMS submission and the Assessment Summary Record in this exact order.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CLOSING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Attendance ·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Assessment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official assessment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Remain until the trainer verifies the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official LMS-TMS/TRAQOM route after attendance.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rial"/>
              </a:rPr>
              <a:t>Design with intent · build accessibly · verify every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© 2026 Tertiary Infotech Academy Pte Ltd  ·  Mastering Articulate Storyline 360 for e-Learning Content Creation  ·  TGS-2024042308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436</a:t>
            </a:r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